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Thanks for the time. Before I show you anything technical, I want to name the problem in one sentence: every product you build eventually has to hand a document, a file, or a record to some other system, and the moment you do, you lose the ability to prove who actually had access, when, and whether it was supposed to end. That's not a storage problem, it's a governance problem, and it sits exactly at the seam between your product and the providers underneath it. That seam is what AOC Enterprise governs. I'll show you how, and then I want your read on whether it maps to a real gap in what you're running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team in this room already has storage, already has auth, already issues signed URLs or scoped permissions. That's not the gap. The gap is what happens the moment access is granted. A signed URL is a bearer secret; whoever holds it has access, full stop. There's no record of which policy allowed it, who approved it, or whether it was supposed to be read-only. When something goes wrong, you can prove a link existed. You can't prove who actually used it, or that access ended when it was supposed to. That gap is structural — no amount of better storage or better auth closes it, because none of those systems were ever designed to answer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call this layer Governed Access. It's not a new storage system and not an identity provider — you keep both. It's the layer that sits at the boundary and answers who approved this and under what policy, does it end on its own, and can you prove what happened afterward. The important design choice: this record lives independent of the provider. If the signed URL expires or the file moves to a different system entirely, the governance record — decision, conditions, evidence — doesn't move or disappear with it. That independence is what makes it provable months or years later, which is exactly when you need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walk this with a real reference scenario we built end-to-end: an M&amp;A data-room platform, outside counsel requesting a confidential target report during live diligence. Counsel requests access — that's the Access Request. Policy evaluates it and returns a decision — here, conditional, not an outright yes. The conditions get recorded explicitly as Obligations — read-only, time-boxed, watermark-required — and the system checks whether the underlying provider can actually enforce watermarking, and it can't, so that gap surfaces before the grant is issued, not after a leak. Only then is the Grant issued — twenty-four hours, active. That grant gets translated into whatever the specific provider needs and executed, producing an actual link, but no credential is ever written into our record. Every view gets logged as a Usage Event, and all of it correlates into one Evidence record. That's the whole lifecycle, and it's running code today, not a diagram we drew for this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architectural reason the evidence record survives a provider outage, a migration, or a provider you haven't chosen yet. Enterprise never holds a credential, a signed URL, or a provider SDK type — that's enforced at compile time in this codebase. The only thing crossing the boundary going down is a grant's resource, status, and expiry; the only thing coming back up is a usage event. Swapping providers is a change to one adapter, not a redesign of your governance model. Today that boundary is proven against Pinata, with real IPFS-backed storage, validated by an automated conformance suite. The same contract is what an S3, Azure, or SharePoint adapter would implement next — same shape, same guarantees, no redesign.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ways to read the same architecture, depending on who's in the room. For the business side: every access decision is provable, not just logged — and revocation is surgical, one party at a time. For engineering: you stop writing bespoke access-control glue for every storage provider — you write to one contract, and a new provider is an adapter, not a rewrite. And commercially, this changes your own enterprise deal cycles — instead of telling a prospect's security team 'we have logs,' you can show them the actual decision-and-evidence record. That's usually the difference between a security review that stalls and one that closes.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Assurance is the other half of AOC Enterprise, and it's important to be precise about what it is. It's a real, implemented scoring engine — the AOC SAF framework, four control domains, ten controls, backed by actual evidence rather than a self-attested checklist — already wired into the Enterprise Host as an optional module with a real API. What it is not is a certification authority — we're not issuing a SOC 2 report or an ISO certificate, and we say that explicitly. What it gives you is the evidence substrate that makes those certification conversations faster. Around that engine we run an engagement: a Technical Assessment, recommendations, implementation, validation together, then Continuous Assurance as an ongoing practice — the beginning of the relationship, not an add-on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price this against the real alternative, which isn't 'nothing' — it's your team building this themselves, because every team eventually does some version of it. Your engineers stop maintaining bespoke access logic per provider and go back to product work. You're not designing a governance data model from a blank page — this one has already been through architecture review and an automated conformance suite. The maintenance burden of provider-specific logic sits in a swappable adapter, not spread through your application. In enterprise sales, 'we can prove revocation happened' beats 'we promise it works.' Audits go from log-archaeology to reading a chain that already ties together. And a provider migration touches one adapter instead of your core access logic.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aren't a random industry list — each is a segment where 'prove what happened to this document' comes up constantly, not once a year. Legal platforms live and die by tight, changing access windows during diligence and discovery. Healthcare has to prove conditions were actually enforced. Enterprise SaaS companies hit this every time a customer wants data governed inside their own storage. Document platforms — this literally is the product. AI platforms are the same problem at machine speed: an agent requesting access on a user's behalf needs the same provable trail a human would. And financial services need this to hold up years later, in front of a regulator. If you're in one of these categories, this is usually already costing you deals or audit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honest version of how this usually goes. We don't ask you to commit to a platform before you've seen whether it fits — we start with a Technical Assessment scoped to your actual environment, and you walk away with a gap analysis whether or not we go further. If it maps, the next step is a Design Partner engagement — the Governed Access architecture is frozen and conformance-tested against Pinata today, and a design partner is exactly how we wire it against your specific provider and scenarios next. From there it's a normal path — implementation, then running in production as the Enterprise Platform, then Continuous Assurance as an ongoing practice rather than something you scramble for once a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 rather lose a little momentum here than have you find this out from your own engineers in week two. Three tiers, no hedging. Available today means shipped, tested, and API-backed. Design Partner stage means the architecture is done and frozen — the full Governed Access lifecycle, and a real Pinata adapter that's passed an automated conformance suite — but it isn't yet wired into a production API you could call today; that wiring is exactly what a design partner engagement does together. Roadmap means genuinely not built yet. If your timeline needs the Governed Access lifecycle production-callable on day one with no partnership stage, we're early for you today, and I'd rather say that now than after a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ways to keep going, in order of how much you're ready to commit today. If you're seeing a real fit, the Technical Assessment is the actual next step — scoped to your environment, no commitment beyond the assessment itself. If you want to see the lifecycle running before you commit, we can walk the reference demo live — real code, not slides. And if your team wants to go deeper on the architecture itself before anyone talks business terms, an Architecture Review with your engineers is the right entry point. Whichever one makes sense, that's where I'd like to leave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1.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640080" y="502920"/>
            <a:ext cx="5486400" cy="365760"/>
          </a:xfrm>
          <a:prstGeom prst="rect">
            <a:avLst/>
          </a:prstGeom>
          <a:noFill/>
          <a:ln/>
        </p:spPr>
        <p:txBody>
          <a:bodyPr wrap="square" lIns="0" tIns="0" rIns="0" bIns="0" rtlCol="0" anchor="ctr"/>
          <a:lstStyle/>
          <a:p>
            <a:pPr algn="l" indent="0" marL="0">
              <a:buNone/>
            </a:pPr>
            <a:r>
              <a:rPr lang="en-US" sz="1200" b="1" spc="300" kern="0" dirty="0">
                <a:solidFill>
                  <a:srgbClr val="4F46E5"/>
                </a:solidFill>
                <a:latin typeface="Calibri" pitchFamily="34" charset="0"/>
                <a:ea typeface="Calibri" pitchFamily="34" charset="-122"/>
                <a:cs typeface="Calibri" pitchFamily="34" charset="-120"/>
              </a:rPr>
              <a:t>AOC ENTERPRISE</a:t>
            </a:r>
            <a:endParaRPr lang="en-US" sz="1200" dirty="0"/>
          </a:p>
        </p:txBody>
      </p:sp>
      <p:sp>
        <p:nvSpPr>
          <p:cNvPr id="3" name="Text 1"/>
          <p:cNvSpPr/>
          <p:nvPr/>
        </p:nvSpPr>
        <p:spPr>
          <a:xfrm>
            <a:off x="914400" y="2331720"/>
            <a:ext cx="10362895" cy="1051560"/>
          </a:xfrm>
          <a:prstGeom prst="rect">
            <a:avLst/>
          </a:prstGeom>
          <a:noFill/>
          <a:ln/>
        </p:spPr>
        <p:txBody>
          <a:bodyPr wrap="square" lIns="0" tIns="0" rIns="0" bIns="0" rtlCol="0" anchor="ctr"/>
          <a:lstStyle/>
          <a:p>
            <a:pPr algn="ctr" indent="0" marL="0">
              <a:buNone/>
            </a:pPr>
            <a:r>
              <a:rPr lang="en-US" sz="5600" b="1" dirty="0">
                <a:solidFill>
                  <a:srgbClr val="FFFFFF"/>
                </a:solidFill>
                <a:latin typeface="Calibri" pitchFamily="34" charset="0"/>
                <a:ea typeface="Calibri" pitchFamily="34" charset="-122"/>
                <a:cs typeface="Calibri" pitchFamily="34" charset="-120"/>
              </a:rPr>
              <a:t>AOC Enterprise</a:t>
            </a:r>
            <a:endParaRPr lang="en-US" sz="5600" dirty="0"/>
          </a:p>
        </p:txBody>
      </p:sp>
      <p:sp>
        <p:nvSpPr>
          <p:cNvPr id="4" name="Text 2"/>
          <p:cNvSpPr/>
          <p:nvPr/>
        </p:nvSpPr>
        <p:spPr>
          <a:xfrm>
            <a:off x="1920240" y="3429000"/>
            <a:ext cx="8348472" cy="640080"/>
          </a:xfrm>
          <a:prstGeom prst="rect">
            <a:avLst/>
          </a:prstGeom>
          <a:noFill/>
          <a:ln/>
        </p:spPr>
        <p:txBody>
          <a:bodyPr wrap="square" lIns="0" tIns="0" rIns="0" bIns="0" rtlCol="0" anchor="ctr"/>
          <a:lstStyle/>
          <a:p>
            <a:pPr algn="ctr" indent="0" marL="0">
              <a:buNone/>
            </a:pPr>
            <a:r>
              <a:rPr lang="en-US" sz="1900" dirty="0">
                <a:solidFill>
                  <a:srgbClr val="94A3B8"/>
                </a:solidFill>
                <a:latin typeface="Calibri" pitchFamily="34" charset="0"/>
                <a:ea typeface="Calibri" pitchFamily="34" charset="-122"/>
                <a:cs typeface="Calibri" pitchFamily="34" charset="-120"/>
              </a:rPr>
              <a:t>Governed access to every system your product depends on.</a:t>
            </a:r>
            <a:endParaRPr lang="en-US" sz="1900" dirty="0"/>
          </a:p>
        </p:txBody>
      </p:sp>
      <p:sp>
        <p:nvSpPr>
          <p:cNvPr id="5" name="Text 3"/>
          <p:cNvSpPr/>
          <p:nvPr/>
        </p:nvSpPr>
        <p:spPr>
          <a:xfrm>
            <a:off x="914400" y="4160520"/>
            <a:ext cx="10362895" cy="365760"/>
          </a:xfrm>
          <a:prstGeom prst="rect">
            <a:avLst/>
          </a:prstGeom>
          <a:noFill/>
          <a:ln/>
        </p:spPr>
        <p:txBody>
          <a:bodyPr wrap="square" lIns="0" tIns="0" rIns="0" bIns="0" rtlCol="0" anchor="ctr"/>
          <a:lstStyle/>
          <a:p>
            <a:pPr algn="ctr" indent="0" marL="0">
              <a:buNone/>
            </a:pPr>
            <a:r>
              <a:rPr lang="en-US" sz="1250" b="1" spc="200" kern="0" dirty="0">
                <a:solidFill>
                  <a:srgbClr val="A5B4FC"/>
                </a:solidFill>
                <a:latin typeface="Calibri" pitchFamily="34" charset="0"/>
                <a:ea typeface="Calibri" pitchFamily="34" charset="-122"/>
                <a:cs typeface="Calibri" pitchFamily="34" charset="-120"/>
              </a:rPr>
              <a:t>PROVABLE</a:t>
            </a:r>
            <a:pPr algn="ctr" indent="0" marL="0">
              <a:buNone/>
            </a:pPr>
            <a:r>
              <a:rPr lang="en-US" sz="1250" spc="200" kern="0" dirty="0">
                <a:solidFill>
                  <a:srgbClr val="5B6B8C"/>
                </a:solidFill>
                <a:latin typeface="Calibri" pitchFamily="34" charset="0"/>
                <a:ea typeface="Calibri" pitchFamily="34" charset="-122"/>
                <a:cs typeface="Calibri" pitchFamily="34" charset="-120"/>
              </a:rPr>
              <a:t>   ·   </a:t>
            </a:r>
            <a:pPr algn="ctr" indent="0" marL="0">
              <a:buNone/>
            </a:pPr>
            <a:r>
              <a:rPr lang="en-US" sz="1250" b="1" spc="200" kern="0" dirty="0">
                <a:solidFill>
                  <a:srgbClr val="A5B4FC"/>
                </a:solidFill>
                <a:latin typeface="Calibri" pitchFamily="34" charset="0"/>
                <a:ea typeface="Calibri" pitchFamily="34" charset="-122"/>
                <a:cs typeface="Calibri" pitchFamily="34" charset="-120"/>
              </a:rPr>
              <a:t>REVOCABLE</a:t>
            </a:r>
            <a:pPr algn="ctr" indent="0" marL="0">
              <a:buNone/>
            </a:pPr>
            <a:r>
              <a:rPr lang="en-US" sz="1250" spc="200" kern="0" dirty="0">
                <a:solidFill>
                  <a:srgbClr val="5B6B8C"/>
                </a:solidFill>
                <a:latin typeface="Calibri" pitchFamily="34" charset="0"/>
                <a:ea typeface="Calibri" pitchFamily="34" charset="-122"/>
                <a:cs typeface="Calibri" pitchFamily="34" charset="-120"/>
              </a:rPr>
              <a:t>   ·   </a:t>
            </a:r>
            <a:pPr algn="ctr" indent="0" marL="0">
              <a:buNone/>
            </a:pPr>
            <a:r>
              <a:rPr lang="en-US" sz="1250" b="1" spc="200" kern="0" dirty="0">
                <a:solidFill>
                  <a:srgbClr val="A5B4FC"/>
                </a:solidFill>
                <a:latin typeface="Calibri" pitchFamily="34" charset="0"/>
                <a:ea typeface="Calibri" pitchFamily="34" charset="-122"/>
                <a:cs typeface="Calibri" pitchFamily="34" charset="-120"/>
              </a:rPr>
              <a:t>AUDITABLE</a:t>
            </a:r>
            <a:endParaRPr lang="en-US" sz="1250" dirty="0"/>
          </a:p>
        </p:txBody>
      </p:sp>
      <p:sp>
        <p:nvSpPr>
          <p:cNvPr id="6" name="Text 4"/>
          <p:cNvSpPr/>
          <p:nvPr/>
        </p:nvSpPr>
        <p:spPr>
          <a:xfrm>
            <a:off x="914400" y="5623560"/>
            <a:ext cx="10362895" cy="457200"/>
          </a:xfrm>
          <a:prstGeom prst="rect">
            <a:avLst/>
          </a:prstGeom>
          <a:noFill/>
          <a:ln/>
        </p:spPr>
        <p:txBody>
          <a:bodyPr wrap="square" lIns="0" tIns="0" rIns="0" bIns="0" rtlCol="0" anchor="ctr"/>
          <a:lstStyle/>
          <a:p>
            <a:pPr algn="ctr" indent="0" marL="0">
              <a:buNone/>
            </a:pPr>
            <a:r>
              <a:rPr lang="en-US" sz="1500" spc="100" kern="0" dirty="0">
                <a:solidFill>
                  <a:srgbClr val="94A3B8"/>
                </a:solidFill>
                <a:latin typeface="Calibri" pitchFamily="34" charset="0"/>
                <a:ea typeface="Calibri" pitchFamily="34" charset="-122"/>
                <a:cs typeface="Calibri" pitchFamily="34" charset="-120"/>
              </a:rPr>
              <a:t>Request  →  Decision  →  Grant  →  Evidence</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11094415" cy="822960"/>
          </a:xfrm>
          <a:prstGeom prst="rect">
            <a:avLst/>
          </a:prstGeom>
          <a:noFill/>
          <a:ln/>
        </p:spPr>
        <p:txBody>
          <a:bodyPr wrap="square" lIns="0" tIns="0" rIns="0" bIns="0" rtlCol="0" anchor="ctr"/>
          <a:lstStyle/>
          <a:p>
            <a:pPr algn="l" indent="0" marL="0">
              <a:buNone/>
            </a:pPr>
            <a:r>
              <a:rPr lang="en-US" sz="3200" b="1" dirty="0">
                <a:solidFill>
                  <a:srgbClr val="0F172A"/>
                </a:solidFill>
                <a:latin typeface="Calibri" pitchFamily="34" charset="0"/>
                <a:ea typeface="Calibri" pitchFamily="34" charset="-122"/>
                <a:cs typeface="Calibri" pitchFamily="34" charset="-120"/>
              </a:rPr>
              <a:t>Storage solved access. Not governance.</a:t>
            </a:r>
            <a:endParaRPr lang="en-US" sz="3200" dirty="0"/>
          </a:p>
        </p:txBody>
      </p:sp>
      <p:sp>
        <p:nvSpPr>
          <p:cNvPr id="3" name="Text 1"/>
          <p:cNvSpPr/>
          <p:nvPr/>
        </p:nvSpPr>
        <p:spPr>
          <a:xfrm>
            <a:off x="548640" y="1298448"/>
            <a:ext cx="11094415" cy="502920"/>
          </a:xfrm>
          <a:prstGeom prst="rect">
            <a:avLst/>
          </a:prstGeom>
          <a:noFill/>
          <a:ln/>
        </p:spPr>
        <p:txBody>
          <a:bodyPr wrap="square" lIns="0" tIns="0" rIns="0" bIns="0" rtlCol="0" anchor="ctr"/>
          <a:lstStyle/>
          <a:p>
            <a:pPr algn="l" indent="0" marL="0">
              <a:buNone/>
            </a:pPr>
            <a:r>
              <a:rPr lang="en-US" sz="1450" dirty="0">
                <a:solidFill>
                  <a:srgbClr val="64748B"/>
                </a:solidFill>
                <a:latin typeface="Calibri" pitchFamily="34" charset="0"/>
                <a:ea typeface="Calibri" pitchFamily="34" charset="-122"/>
                <a:cs typeface="Calibri" pitchFamily="34" charset="-120"/>
              </a:rPr>
              <a:t>Authentication, signed URLs, and permissions confirm access happened. None of them prove it should have.</a:t>
            </a:r>
            <a:endParaRPr lang="en-US" sz="1450" dirty="0"/>
          </a:p>
        </p:txBody>
      </p:sp>
      <p:sp>
        <p:nvSpPr>
          <p:cNvPr id="4" name="Text 2"/>
          <p:cNvSpPr/>
          <p:nvPr/>
        </p:nvSpPr>
        <p:spPr>
          <a:xfrm>
            <a:off x="548640" y="2057400"/>
            <a:ext cx="5120640" cy="320040"/>
          </a:xfrm>
          <a:prstGeom prst="rect">
            <a:avLst/>
          </a:prstGeom>
          <a:noFill/>
          <a:ln/>
        </p:spPr>
        <p:txBody>
          <a:bodyPr wrap="square" lIns="0" tIns="0" rIns="0" bIns="0" rtlCol="0" anchor="ctr"/>
          <a:lstStyle/>
          <a:p>
            <a:pPr indent="0" marL="0">
              <a:buNone/>
            </a:pPr>
            <a:r>
              <a:rPr lang="en-US" sz="1200" b="1" spc="150" kern="0" dirty="0">
                <a:solidFill>
                  <a:srgbClr val="64748B"/>
                </a:solidFill>
                <a:latin typeface="Calibri" pitchFamily="34" charset="0"/>
                <a:ea typeface="Calibri" pitchFamily="34" charset="-122"/>
                <a:cs typeface="Calibri" pitchFamily="34" charset="-120"/>
              </a:rPr>
              <a:t>YOU ALREADY HAVE</a:t>
            </a:r>
            <a:endParaRPr lang="en-US" sz="1200" dirty="0"/>
          </a:p>
        </p:txBody>
      </p:sp>
      <p:pic>
        <p:nvPicPr>
          <p:cNvPr id="5" name="Image 0" descr="preencoded.png">    </p:cNvPr>
          <p:cNvPicPr>
            <a:picLocks noChangeAspect="1"/>
          </p:cNvPicPr>
          <p:nvPr/>
        </p:nvPicPr>
        <p:blipFill>
          <a:blip r:embed="rId1"/>
          <a:stretch>
            <a:fillRect/>
          </a:stretch>
        </p:blipFill>
        <p:spPr>
          <a:xfrm>
            <a:off x="548640" y="2542032"/>
            <a:ext cx="292608" cy="292608"/>
          </a:xfrm>
          <a:prstGeom prst="rect">
            <a:avLst/>
          </a:prstGeom>
        </p:spPr>
      </p:pic>
      <p:sp>
        <p:nvSpPr>
          <p:cNvPr id="6" name="Text 3"/>
          <p:cNvSpPr/>
          <p:nvPr/>
        </p:nvSpPr>
        <p:spPr>
          <a:xfrm>
            <a:off x="987552" y="2514600"/>
            <a:ext cx="4480560" cy="384048"/>
          </a:xfrm>
          <a:prstGeom prst="rect">
            <a:avLst/>
          </a:prstGeom>
          <a:noFill/>
          <a:ln/>
        </p:spPr>
        <p:txBody>
          <a:bodyPr wrap="square" lIns="0" tIns="0" rIns="0" bIns="0" rtlCol="0" anchor="ctr"/>
          <a:lstStyle/>
          <a:p>
            <a:pPr indent="0" marL="0">
              <a:buNone/>
            </a:pPr>
            <a:r>
              <a:rPr lang="en-US" sz="1500" dirty="0">
                <a:solidFill>
                  <a:srgbClr val="0F172A"/>
                </a:solidFill>
                <a:latin typeface="Calibri" pitchFamily="34" charset="0"/>
                <a:ea typeface="Calibri" pitchFamily="34" charset="-122"/>
                <a:cs typeface="Calibri" pitchFamily="34" charset="-120"/>
              </a:rPr>
              <a:t>Storage</a:t>
            </a:r>
            <a:endParaRPr lang="en-US" sz="1500" dirty="0"/>
          </a:p>
        </p:txBody>
      </p:sp>
      <p:pic>
        <p:nvPicPr>
          <p:cNvPr id="7" name="Image 1" descr="preencoded.png">    </p:cNvPr>
          <p:cNvPicPr>
            <a:picLocks noChangeAspect="1"/>
          </p:cNvPicPr>
          <p:nvPr/>
        </p:nvPicPr>
        <p:blipFill>
          <a:blip r:embed="rId2"/>
          <a:stretch>
            <a:fillRect/>
          </a:stretch>
        </p:blipFill>
        <p:spPr>
          <a:xfrm>
            <a:off x="548640" y="3200400"/>
            <a:ext cx="292608" cy="292608"/>
          </a:xfrm>
          <a:prstGeom prst="rect">
            <a:avLst/>
          </a:prstGeom>
        </p:spPr>
      </p:pic>
      <p:sp>
        <p:nvSpPr>
          <p:cNvPr id="8" name="Text 4"/>
          <p:cNvSpPr/>
          <p:nvPr/>
        </p:nvSpPr>
        <p:spPr>
          <a:xfrm>
            <a:off x="987552" y="3172968"/>
            <a:ext cx="4480560" cy="384048"/>
          </a:xfrm>
          <a:prstGeom prst="rect">
            <a:avLst/>
          </a:prstGeom>
          <a:noFill/>
          <a:ln/>
        </p:spPr>
        <p:txBody>
          <a:bodyPr wrap="square" lIns="0" tIns="0" rIns="0" bIns="0" rtlCol="0" anchor="ctr"/>
          <a:lstStyle/>
          <a:p>
            <a:pPr indent="0" marL="0">
              <a:buNone/>
            </a:pPr>
            <a:r>
              <a:rPr lang="en-US" sz="1500" dirty="0">
                <a:solidFill>
                  <a:srgbClr val="0F172A"/>
                </a:solidFill>
                <a:latin typeface="Calibri" pitchFamily="34" charset="0"/>
                <a:ea typeface="Calibri" pitchFamily="34" charset="-122"/>
                <a:cs typeface="Calibri" pitchFamily="34" charset="-120"/>
              </a:rPr>
              <a:t>Authentication</a:t>
            </a:r>
            <a:endParaRPr lang="en-US" sz="1500" dirty="0"/>
          </a:p>
        </p:txBody>
      </p:sp>
      <p:pic>
        <p:nvPicPr>
          <p:cNvPr id="9" name="Image 2" descr="preencoded.png">    </p:cNvPr>
          <p:cNvPicPr>
            <a:picLocks noChangeAspect="1"/>
          </p:cNvPicPr>
          <p:nvPr/>
        </p:nvPicPr>
        <p:blipFill>
          <a:blip r:embed="rId3"/>
          <a:stretch>
            <a:fillRect/>
          </a:stretch>
        </p:blipFill>
        <p:spPr>
          <a:xfrm>
            <a:off x="548640" y="3858768"/>
            <a:ext cx="292608" cy="292608"/>
          </a:xfrm>
          <a:prstGeom prst="rect">
            <a:avLst/>
          </a:prstGeom>
        </p:spPr>
      </p:pic>
      <p:sp>
        <p:nvSpPr>
          <p:cNvPr id="10" name="Text 5"/>
          <p:cNvSpPr/>
          <p:nvPr/>
        </p:nvSpPr>
        <p:spPr>
          <a:xfrm>
            <a:off x="987552" y="3831336"/>
            <a:ext cx="4480560" cy="384048"/>
          </a:xfrm>
          <a:prstGeom prst="rect">
            <a:avLst/>
          </a:prstGeom>
          <a:noFill/>
          <a:ln/>
        </p:spPr>
        <p:txBody>
          <a:bodyPr wrap="square" lIns="0" tIns="0" rIns="0" bIns="0" rtlCol="0" anchor="ctr"/>
          <a:lstStyle/>
          <a:p>
            <a:pPr indent="0" marL="0">
              <a:buNone/>
            </a:pPr>
            <a:r>
              <a:rPr lang="en-US" sz="1500" dirty="0">
                <a:solidFill>
                  <a:srgbClr val="0F172A"/>
                </a:solidFill>
                <a:latin typeface="Calibri" pitchFamily="34" charset="0"/>
                <a:ea typeface="Calibri" pitchFamily="34" charset="-122"/>
                <a:cs typeface="Calibri" pitchFamily="34" charset="-120"/>
              </a:rPr>
              <a:t>Signed URLs</a:t>
            </a:r>
            <a:endParaRPr lang="en-US" sz="1500" dirty="0"/>
          </a:p>
        </p:txBody>
      </p:sp>
      <p:pic>
        <p:nvPicPr>
          <p:cNvPr id="11" name="Image 3" descr="preencoded.png">    </p:cNvPr>
          <p:cNvPicPr>
            <a:picLocks noChangeAspect="1"/>
          </p:cNvPicPr>
          <p:nvPr/>
        </p:nvPicPr>
        <p:blipFill>
          <a:blip r:embed="rId4"/>
          <a:stretch>
            <a:fillRect/>
          </a:stretch>
        </p:blipFill>
        <p:spPr>
          <a:xfrm>
            <a:off x="548640" y="4517136"/>
            <a:ext cx="292608" cy="292608"/>
          </a:xfrm>
          <a:prstGeom prst="rect">
            <a:avLst/>
          </a:prstGeom>
        </p:spPr>
      </p:pic>
      <p:sp>
        <p:nvSpPr>
          <p:cNvPr id="12" name="Text 6"/>
          <p:cNvSpPr/>
          <p:nvPr/>
        </p:nvSpPr>
        <p:spPr>
          <a:xfrm>
            <a:off x="987552" y="4489704"/>
            <a:ext cx="4480560" cy="384048"/>
          </a:xfrm>
          <a:prstGeom prst="rect">
            <a:avLst/>
          </a:prstGeom>
          <a:noFill/>
          <a:ln/>
        </p:spPr>
        <p:txBody>
          <a:bodyPr wrap="square" lIns="0" tIns="0" rIns="0" bIns="0" rtlCol="0" anchor="ctr"/>
          <a:lstStyle/>
          <a:p>
            <a:pPr indent="0" marL="0">
              <a:buNone/>
            </a:pPr>
            <a:r>
              <a:rPr lang="en-US" sz="1500" dirty="0">
                <a:solidFill>
                  <a:srgbClr val="0F172A"/>
                </a:solidFill>
                <a:latin typeface="Calibri" pitchFamily="34" charset="0"/>
                <a:ea typeface="Calibri" pitchFamily="34" charset="-122"/>
                <a:cs typeface="Calibri" pitchFamily="34" charset="-120"/>
              </a:rPr>
              <a:t>Permissions</a:t>
            </a:r>
            <a:endParaRPr lang="en-US" sz="1500" dirty="0"/>
          </a:p>
        </p:txBody>
      </p:sp>
      <p:sp>
        <p:nvSpPr>
          <p:cNvPr id="13" name="Text 7"/>
          <p:cNvSpPr/>
          <p:nvPr/>
        </p:nvSpPr>
        <p:spPr>
          <a:xfrm>
            <a:off x="6309360" y="2057400"/>
            <a:ext cx="5330952" cy="320040"/>
          </a:xfrm>
          <a:prstGeom prst="rect">
            <a:avLst/>
          </a:prstGeom>
          <a:noFill/>
          <a:ln/>
        </p:spPr>
        <p:txBody>
          <a:bodyPr wrap="square" lIns="0" tIns="0" rIns="0" bIns="0" rtlCol="0" anchor="ctr"/>
          <a:lstStyle/>
          <a:p>
            <a:pPr indent="0" marL="0">
              <a:buNone/>
            </a:pPr>
            <a:r>
              <a:rPr lang="en-US" sz="1200" b="1" spc="150" kern="0" dirty="0">
                <a:solidFill>
                  <a:srgbClr val="64748B"/>
                </a:solidFill>
                <a:latin typeface="Calibri" pitchFamily="34" charset="0"/>
                <a:ea typeface="Calibri" pitchFamily="34" charset="-122"/>
                <a:cs typeface="Calibri" pitchFamily="34" charset="-120"/>
              </a:rPr>
              <a:t>NONE OF THEM ANSWER</a:t>
            </a:r>
            <a:endParaRPr lang="en-US" sz="1200" dirty="0"/>
          </a:p>
        </p:txBody>
      </p:sp>
      <p:sp>
        <p:nvSpPr>
          <p:cNvPr id="14" name="Shape 8"/>
          <p:cNvSpPr/>
          <p:nvPr/>
        </p:nvSpPr>
        <p:spPr>
          <a:xfrm>
            <a:off x="6309360" y="2514600"/>
            <a:ext cx="5120640" cy="987552"/>
          </a:xfrm>
          <a:prstGeom prst="roundRect">
            <a:avLst>
              <a:gd name="adj" fmla="val 11111"/>
            </a:avLst>
          </a:prstGeom>
          <a:solidFill>
            <a:srgbClr val="F8FAFC"/>
          </a:solidFill>
          <a:ln w="12700">
            <a:solidFill>
              <a:srgbClr val="E2E8F0"/>
            </a:solidFill>
            <a:prstDash val="solid"/>
          </a:ln>
          <a:effectLst>
            <a:outerShdw sx="100000" sy="100000" kx="0" ky="0" algn="bl" rotWithShape="0" blurRad="127000" dist="25400" dir="5400000">
              <a:srgbClr val="0F172A">
                <a:alpha val="10000"/>
              </a:srgbClr>
            </a:outerShdw>
          </a:effectLst>
        </p:spPr>
      </p:sp>
      <p:pic>
        <p:nvPicPr>
          <p:cNvPr id="15" name="Image 4" descr="preencoded.png">    </p:cNvPr>
          <p:cNvPicPr>
            <a:picLocks noChangeAspect="1"/>
          </p:cNvPicPr>
          <p:nvPr/>
        </p:nvPicPr>
        <p:blipFill>
          <a:blip r:embed="rId5"/>
          <a:stretch>
            <a:fillRect/>
          </a:stretch>
        </p:blipFill>
        <p:spPr>
          <a:xfrm>
            <a:off x="6537960" y="2734056"/>
            <a:ext cx="292608" cy="292608"/>
          </a:xfrm>
          <a:prstGeom prst="rect">
            <a:avLst/>
          </a:prstGeom>
        </p:spPr>
      </p:pic>
      <p:sp>
        <p:nvSpPr>
          <p:cNvPr id="16" name="Text 9"/>
          <p:cNvSpPr/>
          <p:nvPr/>
        </p:nvSpPr>
        <p:spPr>
          <a:xfrm>
            <a:off x="6995160" y="2624328"/>
            <a:ext cx="4251960" cy="768096"/>
          </a:xfrm>
          <a:prstGeom prst="rect">
            <a:avLst/>
          </a:prstGeom>
          <a:noFill/>
          <a:ln/>
        </p:spPr>
        <p:txBody>
          <a:bodyPr wrap="square" lIns="0" tIns="0" rIns="0" bIns="0" rtlCol="0" anchor="ctr"/>
          <a:lstStyle/>
          <a:p>
            <a:pPr indent="0" marL="0">
              <a:buNone/>
            </a:pPr>
            <a:r>
              <a:rPr lang="en-US" sz="1400" dirty="0">
                <a:solidFill>
                  <a:srgbClr val="0F172A"/>
                </a:solidFill>
                <a:latin typeface="Calibri" pitchFamily="34" charset="0"/>
                <a:ea typeface="Calibri" pitchFamily="34" charset="-122"/>
                <a:cs typeface="Calibri" pitchFamily="34" charset="-120"/>
              </a:rPr>
              <a:t>Who approved this, and under what policy?</a:t>
            </a:r>
            <a:endParaRPr lang="en-US" sz="1400" dirty="0"/>
          </a:p>
        </p:txBody>
      </p:sp>
      <p:sp>
        <p:nvSpPr>
          <p:cNvPr id="17" name="Shape 10"/>
          <p:cNvSpPr/>
          <p:nvPr/>
        </p:nvSpPr>
        <p:spPr>
          <a:xfrm>
            <a:off x="6309360" y="3685032"/>
            <a:ext cx="5120640" cy="987552"/>
          </a:xfrm>
          <a:prstGeom prst="roundRect">
            <a:avLst>
              <a:gd name="adj" fmla="val 11111"/>
            </a:avLst>
          </a:prstGeom>
          <a:solidFill>
            <a:srgbClr val="F8FAFC"/>
          </a:solidFill>
          <a:ln w="12700">
            <a:solidFill>
              <a:srgbClr val="E2E8F0"/>
            </a:solidFill>
            <a:prstDash val="solid"/>
          </a:ln>
          <a:effectLst>
            <a:outerShdw sx="100000" sy="100000" kx="0" ky="0" algn="bl" rotWithShape="0" blurRad="127000" dist="25400" dir="5400000">
              <a:srgbClr val="0F172A">
                <a:alpha val="10000"/>
              </a:srgbClr>
            </a:outerShdw>
          </a:effectLst>
        </p:spPr>
      </p:sp>
      <p:pic>
        <p:nvPicPr>
          <p:cNvPr id="18" name="Image 5" descr="preencoded.png">    </p:cNvPr>
          <p:cNvPicPr>
            <a:picLocks noChangeAspect="1"/>
          </p:cNvPicPr>
          <p:nvPr/>
        </p:nvPicPr>
        <p:blipFill>
          <a:blip r:embed="rId6"/>
          <a:stretch>
            <a:fillRect/>
          </a:stretch>
        </p:blipFill>
        <p:spPr>
          <a:xfrm>
            <a:off x="6537960" y="3904488"/>
            <a:ext cx="292608" cy="292608"/>
          </a:xfrm>
          <a:prstGeom prst="rect">
            <a:avLst/>
          </a:prstGeom>
        </p:spPr>
      </p:pic>
      <p:sp>
        <p:nvSpPr>
          <p:cNvPr id="19" name="Text 11"/>
          <p:cNvSpPr/>
          <p:nvPr/>
        </p:nvSpPr>
        <p:spPr>
          <a:xfrm>
            <a:off x="6995160" y="3794760"/>
            <a:ext cx="4251960" cy="768096"/>
          </a:xfrm>
          <a:prstGeom prst="rect">
            <a:avLst/>
          </a:prstGeom>
          <a:noFill/>
          <a:ln/>
        </p:spPr>
        <p:txBody>
          <a:bodyPr wrap="square" lIns="0" tIns="0" rIns="0" bIns="0" rtlCol="0" anchor="ctr"/>
          <a:lstStyle/>
          <a:p>
            <a:pPr indent="0" marL="0">
              <a:buNone/>
            </a:pPr>
            <a:r>
              <a:rPr lang="en-US" sz="1400" dirty="0">
                <a:solidFill>
                  <a:srgbClr val="0F172A"/>
                </a:solidFill>
                <a:latin typeface="Calibri" pitchFamily="34" charset="0"/>
                <a:ea typeface="Calibri" pitchFamily="34" charset="-122"/>
                <a:cs typeface="Calibri" pitchFamily="34" charset="-120"/>
              </a:rPr>
              <a:t>Does it expire on its own?</a:t>
            </a:r>
            <a:endParaRPr lang="en-US" sz="1400" dirty="0"/>
          </a:p>
        </p:txBody>
      </p:sp>
      <p:sp>
        <p:nvSpPr>
          <p:cNvPr id="20" name="Shape 12"/>
          <p:cNvSpPr/>
          <p:nvPr/>
        </p:nvSpPr>
        <p:spPr>
          <a:xfrm>
            <a:off x="6309360" y="4855464"/>
            <a:ext cx="5120640" cy="987552"/>
          </a:xfrm>
          <a:prstGeom prst="roundRect">
            <a:avLst>
              <a:gd name="adj" fmla="val 11111"/>
            </a:avLst>
          </a:prstGeom>
          <a:solidFill>
            <a:srgbClr val="F8FAFC"/>
          </a:solidFill>
          <a:ln w="12700">
            <a:solidFill>
              <a:srgbClr val="E2E8F0"/>
            </a:solidFill>
            <a:prstDash val="solid"/>
          </a:ln>
          <a:effectLst>
            <a:outerShdw sx="100000" sy="100000" kx="0" ky="0" algn="bl" rotWithShape="0" blurRad="127000" dist="25400" dir="5400000">
              <a:srgbClr val="0F172A">
                <a:alpha val="10000"/>
              </a:srgbClr>
            </a:outerShdw>
          </a:effectLst>
        </p:spPr>
      </p:sp>
      <p:pic>
        <p:nvPicPr>
          <p:cNvPr id="21" name="Image 6" descr="preencoded.png">    </p:cNvPr>
          <p:cNvPicPr>
            <a:picLocks noChangeAspect="1"/>
          </p:cNvPicPr>
          <p:nvPr/>
        </p:nvPicPr>
        <p:blipFill>
          <a:blip r:embed="rId7"/>
          <a:stretch>
            <a:fillRect/>
          </a:stretch>
        </p:blipFill>
        <p:spPr>
          <a:xfrm>
            <a:off x="6537960" y="5074920"/>
            <a:ext cx="292608" cy="292608"/>
          </a:xfrm>
          <a:prstGeom prst="rect">
            <a:avLst/>
          </a:prstGeom>
        </p:spPr>
      </p:pic>
      <p:sp>
        <p:nvSpPr>
          <p:cNvPr id="22" name="Text 13"/>
          <p:cNvSpPr/>
          <p:nvPr/>
        </p:nvSpPr>
        <p:spPr>
          <a:xfrm>
            <a:off x="6995160" y="4965192"/>
            <a:ext cx="4251960" cy="768096"/>
          </a:xfrm>
          <a:prstGeom prst="rect">
            <a:avLst/>
          </a:prstGeom>
          <a:noFill/>
          <a:ln/>
        </p:spPr>
        <p:txBody>
          <a:bodyPr wrap="square" lIns="0" tIns="0" rIns="0" bIns="0" rtlCol="0" anchor="ctr"/>
          <a:lstStyle/>
          <a:p>
            <a:pPr indent="0" marL="0">
              <a:buNone/>
            </a:pPr>
            <a:r>
              <a:rPr lang="en-US" sz="1400" dirty="0">
                <a:solidFill>
                  <a:srgbClr val="0F172A"/>
                </a:solidFill>
                <a:latin typeface="Calibri" pitchFamily="34" charset="0"/>
                <a:ea typeface="Calibri" pitchFamily="34" charset="-122"/>
                <a:cs typeface="Calibri" pitchFamily="34" charset="-120"/>
              </a:rPr>
              <a:t>Can you prove what happened after?</a:t>
            </a:r>
            <a:endParaRPr lang="en-US" sz="1400" dirty="0"/>
          </a:p>
        </p:txBody>
      </p:sp>
      <p:sp>
        <p:nvSpPr>
          <p:cNvPr id="23" name="Text 14"/>
          <p:cNvSpPr/>
          <p:nvPr/>
        </p:nvSpPr>
        <p:spPr>
          <a:xfrm>
            <a:off x="548640" y="6419088"/>
            <a:ext cx="9631375" cy="320040"/>
          </a:xfrm>
          <a:prstGeom prst="rect">
            <a:avLst/>
          </a:prstGeom>
          <a:noFill/>
          <a:ln/>
        </p:spPr>
        <p:txBody>
          <a:bodyPr wrap="square" lIns="0" tIns="0" rIns="0" bIns="0" rtlCol="0" anchor="ctr"/>
          <a:lstStyle/>
          <a:p>
            <a:pPr algn="l" indent="0" marL="0">
              <a:buNone/>
            </a:pPr>
            <a:r>
              <a:rPr lang="en-US" sz="900" dirty="0">
                <a:solidFill>
                  <a:srgbClr val="94A3B8"/>
                </a:solidFill>
                <a:latin typeface="Calibri" pitchFamily="34" charset="0"/>
                <a:ea typeface="Calibri" pitchFamily="34" charset="-122"/>
                <a:cs typeface="Calibri" pitchFamily="34" charset="-120"/>
              </a:rPr>
              <a:t>AOC Enterprise — Official Pitch Deck</a:t>
            </a:r>
            <a:endParaRPr lang="en-US" sz="900" dirty="0"/>
          </a:p>
        </p:txBody>
      </p:sp>
      <p:sp>
        <p:nvSpPr>
          <p:cNvPr id="24" name="Text 15"/>
          <p:cNvSpPr/>
          <p:nvPr/>
        </p:nvSpPr>
        <p:spPr>
          <a:xfrm>
            <a:off x="10362895" y="6419088"/>
            <a:ext cx="1280160" cy="320040"/>
          </a:xfrm>
          <a:prstGeom prst="rect">
            <a:avLst/>
          </a:prstGeom>
          <a:noFill/>
          <a:ln/>
        </p:spPr>
        <p:txBody>
          <a:bodyPr wrap="square" lIns="0" tIns="0" rIns="0" bIns="0" rtlCol="0" anchor="ctr"/>
          <a:lstStyle/>
          <a:p>
            <a:pPr algn="r" indent="0" marL="0">
              <a:buNone/>
            </a:pPr>
            <a:r>
              <a:rPr lang="en-US" sz="900" spc="100" kern="0" dirty="0">
                <a:solidFill>
                  <a:srgbClr val="94A3B8"/>
                </a:solidFill>
                <a:latin typeface="Calibri" pitchFamily="34" charset="0"/>
                <a:ea typeface="Calibri" pitchFamily="34" charset="-122"/>
                <a:cs typeface="Calibri" pitchFamily="34" charset="-120"/>
              </a:rPr>
              <a:t>SK005</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4400" y="1691640"/>
            <a:ext cx="10362895" cy="1005840"/>
          </a:xfrm>
          <a:prstGeom prst="rect">
            <a:avLst/>
          </a:prstGeom>
          <a:noFill/>
          <a:ln/>
        </p:spPr>
        <p:txBody>
          <a:bodyPr wrap="square" lIns="0" tIns="0" rIns="0" bIns="0" rtlCol="0" anchor="ctr"/>
          <a:lstStyle/>
          <a:p>
            <a:pPr algn="ctr" indent="0" marL="0">
              <a:buNone/>
            </a:pPr>
            <a:r>
              <a:rPr lang="en-US" sz="5000" b="1" dirty="0">
                <a:solidFill>
                  <a:srgbClr val="4F46E5"/>
                </a:solidFill>
                <a:latin typeface="Calibri" pitchFamily="34" charset="0"/>
                <a:ea typeface="Calibri" pitchFamily="34" charset="-122"/>
                <a:cs typeface="Calibri" pitchFamily="34" charset="-120"/>
              </a:rPr>
              <a:t>Governed</a:t>
            </a:r>
            <a:pPr algn="ctr" indent="0" marL="0">
              <a:buNone/>
            </a:pPr>
            <a:r>
              <a:rPr lang="en-US" sz="5000" b="1" dirty="0">
                <a:solidFill>
                  <a:srgbClr val="0F172A"/>
                </a:solidFill>
                <a:latin typeface="Calibri" pitchFamily="34" charset="0"/>
                <a:ea typeface="Calibri" pitchFamily="34" charset="-122"/>
                <a:cs typeface="Calibri" pitchFamily="34" charset="-120"/>
              </a:rPr>
              <a:t> Access</a:t>
            </a:r>
            <a:endParaRPr lang="en-US" sz="5000" dirty="0"/>
          </a:p>
        </p:txBody>
      </p:sp>
      <p:sp>
        <p:nvSpPr>
          <p:cNvPr id="3" name="Text 1"/>
          <p:cNvSpPr/>
          <p:nvPr/>
        </p:nvSpPr>
        <p:spPr>
          <a:xfrm>
            <a:off x="2194560" y="2788920"/>
            <a:ext cx="7799832" cy="777240"/>
          </a:xfrm>
          <a:prstGeom prst="rect">
            <a:avLst/>
          </a:prstGeom>
          <a:noFill/>
          <a:ln/>
        </p:spPr>
        <p:txBody>
          <a:bodyPr wrap="square" lIns="0" tIns="0" rIns="0" bIns="0" rtlCol="0" anchor="ctr"/>
          <a:lstStyle/>
          <a:p>
            <a:pPr algn="ctr" indent="0" marL="0">
              <a:buNone/>
            </a:pPr>
            <a:r>
              <a:rPr lang="en-US" sz="1700" dirty="0">
                <a:solidFill>
                  <a:srgbClr val="64748B"/>
                </a:solidFill>
                <a:latin typeface="Calibri" pitchFamily="34" charset="0"/>
                <a:ea typeface="Calibri" pitchFamily="34" charset="-122"/>
                <a:cs typeface="Calibri" pitchFamily="34" charset="-120"/>
              </a:rPr>
              <a:t>The layer that decides, records, and proves what happens between a request and access.</a:t>
            </a:r>
            <a:endParaRPr lang="en-US" sz="1700" dirty="0"/>
          </a:p>
        </p:txBody>
      </p:sp>
      <p:sp>
        <p:nvSpPr>
          <p:cNvPr id="4" name="Shape 2"/>
          <p:cNvSpPr/>
          <p:nvPr/>
        </p:nvSpPr>
        <p:spPr>
          <a:xfrm>
            <a:off x="3063240" y="4288536"/>
            <a:ext cx="1554480" cy="566928"/>
          </a:xfrm>
          <a:prstGeom prst="roundRect">
            <a:avLst>
              <a:gd name="adj" fmla="val 16129"/>
            </a:avLst>
          </a:prstGeom>
          <a:solidFill>
            <a:srgbClr val="F1F5F9"/>
          </a:solidFill>
          <a:ln/>
        </p:spPr>
      </p:sp>
      <p:sp>
        <p:nvSpPr>
          <p:cNvPr id="5" name="Text 3"/>
          <p:cNvSpPr/>
          <p:nvPr/>
        </p:nvSpPr>
        <p:spPr>
          <a:xfrm>
            <a:off x="3063240" y="4288536"/>
            <a:ext cx="1554480" cy="566928"/>
          </a:xfrm>
          <a:prstGeom prst="rect">
            <a:avLst/>
          </a:prstGeom>
          <a:noFill/>
          <a:ln/>
        </p:spPr>
        <p:txBody>
          <a:bodyPr wrap="square" lIns="0" tIns="0" rIns="0" bIns="0" rtlCol="0" anchor="ctr"/>
          <a:lstStyle/>
          <a:p>
            <a:pPr algn="ctr" indent="0" marL="0">
              <a:buNone/>
            </a:pPr>
            <a:r>
              <a:rPr lang="en-US" sz="1350" dirty="0">
                <a:solidFill>
                  <a:srgbClr val="64748B"/>
                </a:solidFill>
                <a:latin typeface="Calibri" pitchFamily="34" charset="0"/>
                <a:ea typeface="Calibri" pitchFamily="34" charset="-122"/>
                <a:cs typeface="Calibri" pitchFamily="34" charset="-120"/>
              </a:rPr>
              <a:t>Request</a:t>
            </a:r>
            <a:endParaRPr lang="en-US" sz="1350" dirty="0"/>
          </a:p>
        </p:txBody>
      </p:sp>
      <p:sp>
        <p:nvSpPr>
          <p:cNvPr id="6" name="Shape 4"/>
          <p:cNvSpPr/>
          <p:nvPr/>
        </p:nvSpPr>
        <p:spPr>
          <a:xfrm>
            <a:off x="4617720" y="4572000"/>
            <a:ext cx="457200" cy="0"/>
          </a:xfrm>
          <a:prstGeom prst="line">
            <a:avLst/>
          </a:prstGeom>
          <a:noFill/>
          <a:ln w="19050">
            <a:solidFill>
              <a:srgbClr val="E2E8F0"/>
            </a:solidFill>
            <a:prstDash val="solid"/>
          </a:ln>
        </p:spPr>
      </p:sp>
      <p:sp>
        <p:nvSpPr>
          <p:cNvPr id="7" name="Shape 5"/>
          <p:cNvSpPr/>
          <p:nvPr/>
        </p:nvSpPr>
        <p:spPr>
          <a:xfrm>
            <a:off x="5074920" y="4233672"/>
            <a:ext cx="2039112" cy="676656"/>
          </a:xfrm>
          <a:prstGeom prst="roundRect">
            <a:avLst>
              <a:gd name="adj" fmla="val 16216"/>
            </a:avLst>
          </a:prstGeom>
          <a:solidFill>
            <a:srgbClr val="4F46E5"/>
          </a:solidFill>
          <a:ln/>
          <a:effectLst>
            <a:outerShdw sx="100000" sy="100000" kx="0" ky="0" algn="bl" rotWithShape="0" blurRad="127000" dist="25400" dir="5400000">
              <a:srgbClr val="0F172A">
                <a:alpha val="10000"/>
              </a:srgbClr>
            </a:outerShdw>
          </a:effectLst>
        </p:spPr>
      </p:sp>
      <p:sp>
        <p:nvSpPr>
          <p:cNvPr id="8" name="Text 6"/>
          <p:cNvSpPr/>
          <p:nvPr/>
        </p:nvSpPr>
        <p:spPr>
          <a:xfrm>
            <a:off x="5074920" y="4233672"/>
            <a:ext cx="2039112" cy="676656"/>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Governed Access</a:t>
            </a:r>
            <a:endParaRPr lang="en-US" sz="1350" dirty="0"/>
          </a:p>
        </p:txBody>
      </p:sp>
      <p:sp>
        <p:nvSpPr>
          <p:cNvPr id="9" name="Shape 7"/>
          <p:cNvSpPr/>
          <p:nvPr/>
        </p:nvSpPr>
        <p:spPr>
          <a:xfrm>
            <a:off x="7114032" y="4572000"/>
            <a:ext cx="457200" cy="0"/>
          </a:xfrm>
          <a:prstGeom prst="line">
            <a:avLst/>
          </a:prstGeom>
          <a:noFill/>
          <a:ln w="19050">
            <a:solidFill>
              <a:srgbClr val="E2E8F0"/>
            </a:solidFill>
            <a:prstDash val="solid"/>
          </a:ln>
        </p:spPr>
      </p:sp>
      <p:sp>
        <p:nvSpPr>
          <p:cNvPr id="10" name="Shape 8"/>
          <p:cNvSpPr/>
          <p:nvPr/>
        </p:nvSpPr>
        <p:spPr>
          <a:xfrm>
            <a:off x="7571232" y="4288536"/>
            <a:ext cx="1554480" cy="566928"/>
          </a:xfrm>
          <a:prstGeom prst="roundRect">
            <a:avLst>
              <a:gd name="adj" fmla="val 16129"/>
            </a:avLst>
          </a:prstGeom>
          <a:solidFill>
            <a:srgbClr val="F1F5F9"/>
          </a:solidFill>
          <a:ln/>
        </p:spPr>
      </p:sp>
      <p:sp>
        <p:nvSpPr>
          <p:cNvPr id="11" name="Text 9"/>
          <p:cNvSpPr/>
          <p:nvPr/>
        </p:nvSpPr>
        <p:spPr>
          <a:xfrm>
            <a:off x="7571232" y="4288536"/>
            <a:ext cx="1554480" cy="566928"/>
          </a:xfrm>
          <a:prstGeom prst="rect">
            <a:avLst/>
          </a:prstGeom>
          <a:noFill/>
          <a:ln/>
        </p:spPr>
        <p:txBody>
          <a:bodyPr wrap="square" lIns="0" tIns="0" rIns="0" bIns="0" rtlCol="0" anchor="ctr"/>
          <a:lstStyle/>
          <a:p>
            <a:pPr algn="ctr" indent="0" marL="0">
              <a:buNone/>
            </a:pPr>
            <a:r>
              <a:rPr lang="en-US" sz="1350" dirty="0">
                <a:solidFill>
                  <a:srgbClr val="64748B"/>
                </a:solidFill>
                <a:latin typeface="Calibri" pitchFamily="34" charset="0"/>
                <a:ea typeface="Calibri" pitchFamily="34" charset="-122"/>
                <a:cs typeface="Calibri" pitchFamily="34" charset="-120"/>
              </a:rPr>
              <a:t>Access</a:t>
            </a:r>
            <a:endParaRPr lang="en-US" sz="1350" dirty="0"/>
          </a:p>
        </p:txBody>
      </p:sp>
      <p:sp>
        <p:nvSpPr>
          <p:cNvPr id="12" name="Text 10"/>
          <p:cNvSpPr/>
          <p:nvPr/>
        </p:nvSpPr>
        <p:spPr>
          <a:xfrm>
            <a:off x="548640" y="6419088"/>
            <a:ext cx="9631375" cy="320040"/>
          </a:xfrm>
          <a:prstGeom prst="rect">
            <a:avLst/>
          </a:prstGeom>
          <a:noFill/>
          <a:ln/>
        </p:spPr>
        <p:txBody>
          <a:bodyPr wrap="square" lIns="0" tIns="0" rIns="0" bIns="0" rtlCol="0" anchor="ctr"/>
          <a:lstStyle/>
          <a:p>
            <a:pPr algn="l" indent="0" marL="0">
              <a:buNone/>
            </a:pPr>
            <a:r>
              <a:rPr lang="en-US" sz="900" dirty="0">
                <a:solidFill>
                  <a:srgbClr val="94A3B8"/>
                </a:solidFill>
                <a:latin typeface="Calibri" pitchFamily="34" charset="0"/>
                <a:ea typeface="Calibri" pitchFamily="34" charset="-122"/>
                <a:cs typeface="Calibri" pitchFamily="34" charset="-120"/>
              </a:rPr>
              <a:t>AOC Enterprise — Official Pitch Deck</a:t>
            </a:r>
            <a:endParaRPr lang="en-US" sz="900" dirty="0"/>
          </a:p>
        </p:txBody>
      </p:sp>
      <p:sp>
        <p:nvSpPr>
          <p:cNvPr id="13" name="Text 11"/>
          <p:cNvSpPr/>
          <p:nvPr/>
        </p:nvSpPr>
        <p:spPr>
          <a:xfrm>
            <a:off x="10362895" y="6419088"/>
            <a:ext cx="1280160" cy="320040"/>
          </a:xfrm>
          <a:prstGeom prst="rect">
            <a:avLst/>
          </a:prstGeom>
          <a:noFill/>
          <a:ln/>
        </p:spPr>
        <p:txBody>
          <a:bodyPr wrap="square" lIns="0" tIns="0" rIns="0" bIns="0" rtlCol="0" anchor="ctr"/>
          <a:lstStyle/>
          <a:p>
            <a:pPr algn="r" indent="0" marL="0">
              <a:buNone/>
            </a:pPr>
            <a:r>
              <a:rPr lang="en-US" sz="900" spc="100" kern="0" dirty="0">
                <a:solidFill>
                  <a:srgbClr val="94A3B8"/>
                </a:solidFill>
                <a:latin typeface="Calibri" pitchFamily="34" charset="0"/>
                <a:ea typeface="Calibri" pitchFamily="34" charset="-122"/>
                <a:cs typeface="Calibri" pitchFamily="34" charset="-120"/>
              </a:rPr>
              <a:t>SK005</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11094415" cy="822960"/>
          </a:xfrm>
          <a:prstGeom prst="rect">
            <a:avLst/>
          </a:prstGeom>
          <a:noFill/>
          <a:ln/>
        </p:spPr>
        <p:txBody>
          <a:bodyPr wrap="square" lIns="0" tIns="0" rIns="0" bIns="0" rtlCol="0" anchor="ctr"/>
          <a:lstStyle/>
          <a:p>
            <a:pPr algn="l" indent="0" marL="0">
              <a:buNone/>
            </a:pPr>
            <a:r>
              <a:rPr lang="en-US" sz="3200" b="1" dirty="0">
                <a:solidFill>
                  <a:srgbClr val="0F172A"/>
                </a:solidFill>
                <a:latin typeface="Calibri" pitchFamily="34" charset="0"/>
                <a:ea typeface="Calibri" pitchFamily="34" charset="-122"/>
                <a:cs typeface="Calibri" pitchFamily="34" charset="-120"/>
              </a:rPr>
              <a:t>One request, one provable record</a:t>
            </a:r>
            <a:endParaRPr lang="en-US" sz="3200" dirty="0"/>
          </a:p>
        </p:txBody>
      </p:sp>
      <p:sp>
        <p:nvSpPr>
          <p:cNvPr id="3" name="Text 1"/>
          <p:cNvSpPr/>
          <p:nvPr/>
        </p:nvSpPr>
        <p:spPr>
          <a:xfrm>
            <a:off x="548640" y="1298448"/>
            <a:ext cx="11094415" cy="502920"/>
          </a:xfrm>
          <a:prstGeom prst="rect">
            <a:avLst/>
          </a:prstGeom>
          <a:noFill/>
          <a:ln/>
        </p:spPr>
        <p:txBody>
          <a:bodyPr wrap="square" lIns="0" tIns="0" rIns="0" bIns="0" rtlCol="0" anchor="ctr"/>
          <a:lstStyle/>
          <a:p>
            <a:pPr algn="l" indent="0" marL="0">
              <a:buNone/>
            </a:pPr>
            <a:r>
              <a:rPr lang="en-US" sz="1450" dirty="0">
                <a:solidFill>
                  <a:srgbClr val="64748B"/>
                </a:solidFill>
                <a:latin typeface="Calibri" pitchFamily="34" charset="0"/>
                <a:ea typeface="Calibri" pitchFamily="34" charset="-122"/>
                <a:cs typeface="Calibri" pitchFamily="34" charset="-120"/>
              </a:rPr>
              <a:t>Every stage produces one immutable record — nothing is overwritten, only added to.</a:t>
            </a:r>
            <a:endParaRPr lang="en-US" sz="1450" dirty="0"/>
          </a:p>
        </p:txBody>
      </p:sp>
      <p:sp>
        <p:nvSpPr>
          <p:cNvPr id="4" name="Shape 2"/>
          <p:cNvSpPr/>
          <p:nvPr/>
        </p:nvSpPr>
        <p:spPr>
          <a:xfrm>
            <a:off x="986009" y="2331720"/>
            <a:ext cx="512064" cy="512064"/>
          </a:xfrm>
          <a:prstGeom prst="ellipse">
            <a:avLst/>
          </a:prstGeom>
          <a:solidFill>
            <a:srgbClr val="EEF2FF"/>
          </a:solidFill>
          <a:ln/>
        </p:spPr>
      </p:sp>
      <p:sp>
        <p:nvSpPr>
          <p:cNvPr id="5" name="Text 3"/>
          <p:cNvSpPr/>
          <p:nvPr/>
        </p:nvSpPr>
        <p:spPr>
          <a:xfrm>
            <a:off x="986009" y="2331720"/>
            <a:ext cx="512064" cy="512064"/>
          </a:xfrm>
          <a:prstGeom prst="rect">
            <a:avLst/>
          </a:prstGeom>
          <a:noFill/>
          <a:ln/>
        </p:spPr>
        <p:txBody>
          <a:bodyPr wrap="square" lIns="0" tIns="0" rIns="0" bIns="0" rtlCol="0" anchor="ctr"/>
          <a:lstStyle/>
          <a:p>
            <a:pPr algn="ctr" indent="0" marL="0">
              <a:buNone/>
            </a:pPr>
            <a:r>
              <a:rPr lang="en-US" sz="1400" b="1" dirty="0">
                <a:solidFill>
                  <a:srgbClr val="4F46E5"/>
                </a:solidFill>
                <a:latin typeface="Calibri" pitchFamily="34" charset="0"/>
                <a:ea typeface="Calibri" pitchFamily="34" charset="-122"/>
                <a:cs typeface="Calibri" pitchFamily="34" charset="-120"/>
              </a:rPr>
              <a:t>1</a:t>
            </a:r>
            <a:endParaRPr lang="en-US" sz="1400" dirty="0"/>
          </a:p>
        </p:txBody>
      </p:sp>
      <p:sp>
        <p:nvSpPr>
          <p:cNvPr id="6" name="Shape 4"/>
          <p:cNvSpPr/>
          <p:nvPr/>
        </p:nvSpPr>
        <p:spPr>
          <a:xfrm>
            <a:off x="1552937" y="2587752"/>
            <a:ext cx="765010" cy="0"/>
          </a:xfrm>
          <a:prstGeom prst="line">
            <a:avLst/>
          </a:prstGeom>
          <a:noFill/>
          <a:ln w="19050">
            <a:solidFill>
              <a:srgbClr val="E2E8F0"/>
            </a:solidFill>
            <a:prstDash val="solid"/>
          </a:ln>
        </p:spPr>
      </p:sp>
      <p:sp>
        <p:nvSpPr>
          <p:cNvPr id="7" name="Text 5"/>
          <p:cNvSpPr/>
          <p:nvPr/>
        </p:nvSpPr>
        <p:spPr>
          <a:xfrm>
            <a:off x="585216" y="2971800"/>
            <a:ext cx="1313650" cy="548640"/>
          </a:xfrm>
          <a:prstGeom prst="rect">
            <a:avLst/>
          </a:prstGeom>
          <a:noFill/>
          <a:ln/>
        </p:spPr>
        <p:txBody>
          <a:bodyPr wrap="square" lIns="0" tIns="0" rIns="0" bIns="0" rtlCol="0" anchor="ctr"/>
          <a:lstStyle/>
          <a:p>
            <a:pPr algn="ctr" indent="0" marL="0">
              <a:buNone/>
            </a:pPr>
            <a:r>
              <a:rPr lang="en-US" sz="1100" dirty="0">
                <a:solidFill>
                  <a:srgbClr val="0F172A"/>
                </a:solidFill>
                <a:latin typeface="Calibri" pitchFamily="34" charset="0"/>
                <a:ea typeface="Calibri" pitchFamily="34" charset="-122"/>
                <a:cs typeface="Calibri" pitchFamily="34" charset="-120"/>
              </a:rPr>
              <a:t>Request</a:t>
            </a:r>
            <a:endParaRPr lang="en-US" sz="1100" dirty="0"/>
          </a:p>
        </p:txBody>
      </p:sp>
      <p:sp>
        <p:nvSpPr>
          <p:cNvPr id="8" name="Shape 6"/>
          <p:cNvSpPr/>
          <p:nvPr/>
        </p:nvSpPr>
        <p:spPr>
          <a:xfrm>
            <a:off x="2372811" y="2331720"/>
            <a:ext cx="512064" cy="512064"/>
          </a:xfrm>
          <a:prstGeom prst="ellipse">
            <a:avLst/>
          </a:prstGeom>
          <a:solidFill>
            <a:srgbClr val="EEF2FF"/>
          </a:solidFill>
          <a:ln/>
        </p:spPr>
      </p:sp>
      <p:sp>
        <p:nvSpPr>
          <p:cNvPr id="9" name="Text 7"/>
          <p:cNvSpPr/>
          <p:nvPr/>
        </p:nvSpPr>
        <p:spPr>
          <a:xfrm>
            <a:off x="2372811" y="2331720"/>
            <a:ext cx="512064" cy="512064"/>
          </a:xfrm>
          <a:prstGeom prst="rect">
            <a:avLst/>
          </a:prstGeom>
          <a:noFill/>
          <a:ln/>
        </p:spPr>
        <p:txBody>
          <a:bodyPr wrap="square" lIns="0" tIns="0" rIns="0" bIns="0" rtlCol="0" anchor="ctr"/>
          <a:lstStyle/>
          <a:p>
            <a:pPr algn="ctr" indent="0" marL="0">
              <a:buNone/>
            </a:pPr>
            <a:r>
              <a:rPr lang="en-US" sz="1400" b="1" dirty="0">
                <a:solidFill>
                  <a:srgbClr val="4F46E5"/>
                </a:solidFill>
                <a:latin typeface="Calibri" pitchFamily="34" charset="0"/>
                <a:ea typeface="Calibri" pitchFamily="34" charset="-122"/>
                <a:cs typeface="Calibri" pitchFamily="34" charset="-120"/>
              </a:rPr>
              <a:t>2</a:t>
            </a:r>
            <a:endParaRPr lang="en-US" sz="1400" dirty="0"/>
          </a:p>
        </p:txBody>
      </p:sp>
      <p:sp>
        <p:nvSpPr>
          <p:cNvPr id="10" name="Shape 8"/>
          <p:cNvSpPr/>
          <p:nvPr/>
        </p:nvSpPr>
        <p:spPr>
          <a:xfrm>
            <a:off x="2939739" y="2587752"/>
            <a:ext cx="765010" cy="0"/>
          </a:xfrm>
          <a:prstGeom prst="line">
            <a:avLst/>
          </a:prstGeom>
          <a:noFill/>
          <a:ln w="19050">
            <a:solidFill>
              <a:srgbClr val="E2E8F0"/>
            </a:solidFill>
            <a:prstDash val="solid"/>
          </a:ln>
        </p:spPr>
      </p:sp>
      <p:sp>
        <p:nvSpPr>
          <p:cNvPr id="11" name="Text 9"/>
          <p:cNvSpPr/>
          <p:nvPr/>
        </p:nvSpPr>
        <p:spPr>
          <a:xfrm>
            <a:off x="1972018" y="2971800"/>
            <a:ext cx="1313650" cy="548640"/>
          </a:xfrm>
          <a:prstGeom prst="rect">
            <a:avLst/>
          </a:prstGeom>
          <a:noFill/>
          <a:ln/>
        </p:spPr>
        <p:txBody>
          <a:bodyPr wrap="square" lIns="0" tIns="0" rIns="0" bIns="0" rtlCol="0" anchor="ctr"/>
          <a:lstStyle/>
          <a:p>
            <a:pPr algn="ctr" indent="0" marL="0">
              <a:buNone/>
            </a:pPr>
            <a:r>
              <a:rPr lang="en-US" sz="1100" dirty="0">
                <a:solidFill>
                  <a:srgbClr val="0F172A"/>
                </a:solidFill>
                <a:latin typeface="Calibri" pitchFamily="34" charset="0"/>
                <a:ea typeface="Calibri" pitchFamily="34" charset="-122"/>
                <a:cs typeface="Calibri" pitchFamily="34" charset="-120"/>
              </a:rPr>
              <a:t>Decision</a:t>
            </a:r>
            <a:endParaRPr lang="en-US" sz="1100" dirty="0"/>
          </a:p>
        </p:txBody>
      </p:sp>
      <p:sp>
        <p:nvSpPr>
          <p:cNvPr id="12" name="Shape 10"/>
          <p:cNvSpPr/>
          <p:nvPr/>
        </p:nvSpPr>
        <p:spPr>
          <a:xfrm>
            <a:off x="3759613" y="2331720"/>
            <a:ext cx="512064" cy="512064"/>
          </a:xfrm>
          <a:prstGeom prst="ellipse">
            <a:avLst/>
          </a:prstGeom>
          <a:solidFill>
            <a:srgbClr val="EEF2FF"/>
          </a:solidFill>
          <a:ln/>
        </p:spPr>
      </p:sp>
      <p:sp>
        <p:nvSpPr>
          <p:cNvPr id="13" name="Text 11"/>
          <p:cNvSpPr/>
          <p:nvPr/>
        </p:nvSpPr>
        <p:spPr>
          <a:xfrm>
            <a:off x="3759613" y="2331720"/>
            <a:ext cx="512064" cy="512064"/>
          </a:xfrm>
          <a:prstGeom prst="rect">
            <a:avLst/>
          </a:prstGeom>
          <a:noFill/>
          <a:ln/>
        </p:spPr>
        <p:txBody>
          <a:bodyPr wrap="square" lIns="0" tIns="0" rIns="0" bIns="0" rtlCol="0" anchor="ctr"/>
          <a:lstStyle/>
          <a:p>
            <a:pPr algn="ctr" indent="0" marL="0">
              <a:buNone/>
            </a:pPr>
            <a:r>
              <a:rPr lang="en-US" sz="1400" b="1" dirty="0">
                <a:solidFill>
                  <a:srgbClr val="4F46E5"/>
                </a:solidFill>
                <a:latin typeface="Calibri" pitchFamily="34" charset="0"/>
                <a:ea typeface="Calibri" pitchFamily="34" charset="-122"/>
                <a:cs typeface="Calibri" pitchFamily="34" charset="-120"/>
              </a:rPr>
              <a:t>3</a:t>
            </a:r>
            <a:endParaRPr lang="en-US" sz="1400" dirty="0"/>
          </a:p>
        </p:txBody>
      </p:sp>
      <p:sp>
        <p:nvSpPr>
          <p:cNvPr id="14" name="Shape 12"/>
          <p:cNvSpPr/>
          <p:nvPr/>
        </p:nvSpPr>
        <p:spPr>
          <a:xfrm>
            <a:off x="4326541" y="2587752"/>
            <a:ext cx="765010" cy="0"/>
          </a:xfrm>
          <a:prstGeom prst="line">
            <a:avLst/>
          </a:prstGeom>
          <a:noFill/>
          <a:ln w="19050">
            <a:solidFill>
              <a:srgbClr val="E2E8F0"/>
            </a:solidFill>
            <a:prstDash val="solid"/>
          </a:ln>
        </p:spPr>
      </p:sp>
      <p:sp>
        <p:nvSpPr>
          <p:cNvPr id="15" name="Text 13"/>
          <p:cNvSpPr/>
          <p:nvPr/>
        </p:nvSpPr>
        <p:spPr>
          <a:xfrm>
            <a:off x="3358820" y="2971800"/>
            <a:ext cx="1313650" cy="548640"/>
          </a:xfrm>
          <a:prstGeom prst="rect">
            <a:avLst/>
          </a:prstGeom>
          <a:noFill/>
          <a:ln/>
        </p:spPr>
        <p:txBody>
          <a:bodyPr wrap="square" lIns="0" tIns="0" rIns="0" bIns="0" rtlCol="0" anchor="ctr"/>
          <a:lstStyle/>
          <a:p>
            <a:pPr algn="ctr" indent="0" marL="0">
              <a:buNone/>
            </a:pPr>
            <a:r>
              <a:rPr lang="en-US" sz="1100" dirty="0">
                <a:solidFill>
                  <a:srgbClr val="0F172A"/>
                </a:solidFill>
                <a:latin typeface="Calibri" pitchFamily="34" charset="0"/>
                <a:ea typeface="Calibri" pitchFamily="34" charset="-122"/>
                <a:cs typeface="Calibri" pitchFamily="34" charset="-120"/>
              </a:rPr>
              <a:t>Obligations</a:t>
            </a:r>
            <a:endParaRPr lang="en-US" sz="1100" dirty="0"/>
          </a:p>
        </p:txBody>
      </p:sp>
      <p:sp>
        <p:nvSpPr>
          <p:cNvPr id="16" name="Shape 14"/>
          <p:cNvSpPr/>
          <p:nvPr/>
        </p:nvSpPr>
        <p:spPr>
          <a:xfrm>
            <a:off x="5146415" y="2331720"/>
            <a:ext cx="512064" cy="512064"/>
          </a:xfrm>
          <a:prstGeom prst="ellipse">
            <a:avLst/>
          </a:prstGeom>
          <a:solidFill>
            <a:srgbClr val="EEF2FF"/>
          </a:solidFill>
          <a:ln/>
        </p:spPr>
      </p:sp>
      <p:sp>
        <p:nvSpPr>
          <p:cNvPr id="17" name="Text 15"/>
          <p:cNvSpPr/>
          <p:nvPr/>
        </p:nvSpPr>
        <p:spPr>
          <a:xfrm>
            <a:off x="5146415" y="2331720"/>
            <a:ext cx="512064" cy="512064"/>
          </a:xfrm>
          <a:prstGeom prst="rect">
            <a:avLst/>
          </a:prstGeom>
          <a:noFill/>
          <a:ln/>
        </p:spPr>
        <p:txBody>
          <a:bodyPr wrap="square" lIns="0" tIns="0" rIns="0" bIns="0" rtlCol="0" anchor="ctr"/>
          <a:lstStyle/>
          <a:p>
            <a:pPr algn="ctr" indent="0" marL="0">
              <a:buNone/>
            </a:pPr>
            <a:r>
              <a:rPr lang="en-US" sz="1400" b="1" dirty="0">
                <a:solidFill>
                  <a:srgbClr val="4F46E5"/>
                </a:solidFill>
                <a:latin typeface="Calibri" pitchFamily="34" charset="0"/>
                <a:ea typeface="Calibri" pitchFamily="34" charset="-122"/>
                <a:cs typeface="Calibri" pitchFamily="34" charset="-120"/>
              </a:rPr>
              <a:t>4</a:t>
            </a:r>
            <a:endParaRPr lang="en-US" sz="1400" dirty="0"/>
          </a:p>
        </p:txBody>
      </p:sp>
      <p:sp>
        <p:nvSpPr>
          <p:cNvPr id="18" name="Shape 16"/>
          <p:cNvSpPr/>
          <p:nvPr/>
        </p:nvSpPr>
        <p:spPr>
          <a:xfrm>
            <a:off x="5713343" y="2587752"/>
            <a:ext cx="765010" cy="0"/>
          </a:xfrm>
          <a:prstGeom prst="line">
            <a:avLst/>
          </a:prstGeom>
          <a:noFill/>
          <a:ln w="19050">
            <a:solidFill>
              <a:srgbClr val="E2E8F0"/>
            </a:solidFill>
            <a:prstDash val="solid"/>
          </a:ln>
        </p:spPr>
      </p:sp>
      <p:sp>
        <p:nvSpPr>
          <p:cNvPr id="19" name="Text 17"/>
          <p:cNvSpPr/>
          <p:nvPr/>
        </p:nvSpPr>
        <p:spPr>
          <a:xfrm>
            <a:off x="4745622" y="2971800"/>
            <a:ext cx="1313650" cy="548640"/>
          </a:xfrm>
          <a:prstGeom prst="rect">
            <a:avLst/>
          </a:prstGeom>
          <a:noFill/>
          <a:ln/>
        </p:spPr>
        <p:txBody>
          <a:bodyPr wrap="square" lIns="0" tIns="0" rIns="0" bIns="0" rtlCol="0" anchor="ctr"/>
          <a:lstStyle/>
          <a:p>
            <a:pPr algn="ctr" indent="0" marL="0">
              <a:buNone/>
            </a:pPr>
            <a:r>
              <a:rPr lang="en-US" sz="1100" dirty="0">
                <a:solidFill>
                  <a:srgbClr val="0F172A"/>
                </a:solidFill>
                <a:latin typeface="Calibri" pitchFamily="34" charset="0"/>
                <a:ea typeface="Calibri" pitchFamily="34" charset="-122"/>
                <a:cs typeface="Calibri" pitchFamily="34" charset="-120"/>
              </a:rPr>
              <a:t>Grant</a:t>
            </a:r>
            <a:endParaRPr lang="en-US" sz="1100" dirty="0"/>
          </a:p>
        </p:txBody>
      </p:sp>
      <p:sp>
        <p:nvSpPr>
          <p:cNvPr id="20" name="Shape 18"/>
          <p:cNvSpPr/>
          <p:nvPr/>
        </p:nvSpPr>
        <p:spPr>
          <a:xfrm>
            <a:off x="6533217" y="2331720"/>
            <a:ext cx="512064" cy="512064"/>
          </a:xfrm>
          <a:prstGeom prst="ellipse">
            <a:avLst/>
          </a:prstGeom>
          <a:solidFill>
            <a:srgbClr val="EEF2FF"/>
          </a:solidFill>
          <a:ln/>
        </p:spPr>
      </p:sp>
      <p:sp>
        <p:nvSpPr>
          <p:cNvPr id="21" name="Text 19"/>
          <p:cNvSpPr/>
          <p:nvPr/>
        </p:nvSpPr>
        <p:spPr>
          <a:xfrm>
            <a:off x="6533217" y="2331720"/>
            <a:ext cx="512064" cy="512064"/>
          </a:xfrm>
          <a:prstGeom prst="rect">
            <a:avLst/>
          </a:prstGeom>
          <a:noFill/>
          <a:ln/>
        </p:spPr>
        <p:txBody>
          <a:bodyPr wrap="square" lIns="0" tIns="0" rIns="0" bIns="0" rtlCol="0" anchor="ctr"/>
          <a:lstStyle/>
          <a:p>
            <a:pPr algn="ctr" indent="0" marL="0">
              <a:buNone/>
            </a:pPr>
            <a:r>
              <a:rPr lang="en-US" sz="1400" b="1" dirty="0">
                <a:solidFill>
                  <a:srgbClr val="4F46E5"/>
                </a:solidFill>
                <a:latin typeface="Calibri" pitchFamily="34" charset="0"/>
                <a:ea typeface="Calibri" pitchFamily="34" charset="-122"/>
                <a:cs typeface="Calibri" pitchFamily="34" charset="-120"/>
              </a:rPr>
              <a:t>5</a:t>
            </a:r>
            <a:endParaRPr lang="en-US" sz="1400" dirty="0"/>
          </a:p>
        </p:txBody>
      </p:sp>
      <p:sp>
        <p:nvSpPr>
          <p:cNvPr id="22" name="Shape 20"/>
          <p:cNvSpPr/>
          <p:nvPr/>
        </p:nvSpPr>
        <p:spPr>
          <a:xfrm>
            <a:off x="7100145" y="2587752"/>
            <a:ext cx="765010" cy="0"/>
          </a:xfrm>
          <a:prstGeom prst="line">
            <a:avLst/>
          </a:prstGeom>
          <a:noFill/>
          <a:ln w="19050">
            <a:solidFill>
              <a:srgbClr val="E2E8F0"/>
            </a:solidFill>
            <a:prstDash val="solid"/>
          </a:ln>
        </p:spPr>
      </p:sp>
      <p:sp>
        <p:nvSpPr>
          <p:cNvPr id="23" name="Text 21"/>
          <p:cNvSpPr/>
          <p:nvPr/>
        </p:nvSpPr>
        <p:spPr>
          <a:xfrm>
            <a:off x="6132424" y="2971800"/>
            <a:ext cx="1313650" cy="548640"/>
          </a:xfrm>
          <a:prstGeom prst="rect">
            <a:avLst/>
          </a:prstGeom>
          <a:noFill/>
          <a:ln/>
        </p:spPr>
        <p:txBody>
          <a:bodyPr wrap="square" lIns="0" tIns="0" rIns="0" bIns="0" rtlCol="0" anchor="ctr"/>
          <a:lstStyle/>
          <a:p>
            <a:pPr algn="ctr" indent="0" marL="0">
              <a:buNone/>
            </a:pPr>
            <a:r>
              <a:rPr lang="en-US" sz="1100" dirty="0">
                <a:solidFill>
                  <a:srgbClr val="0F172A"/>
                </a:solidFill>
                <a:latin typeface="Calibri" pitchFamily="34" charset="0"/>
                <a:ea typeface="Calibri" pitchFamily="34" charset="-122"/>
                <a:cs typeface="Calibri" pitchFamily="34" charset="-120"/>
              </a:rPr>
              <a:t>Translation</a:t>
            </a:r>
            <a:endParaRPr lang="en-US" sz="1100" dirty="0"/>
          </a:p>
        </p:txBody>
      </p:sp>
      <p:sp>
        <p:nvSpPr>
          <p:cNvPr id="24" name="Shape 22"/>
          <p:cNvSpPr/>
          <p:nvPr/>
        </p:nvSpPr>
        <p:spPr>
          <a:xfrm>
            <a:off x="7920018" y="2331720"/>
            <a:ext cx="512064" cy="512064"/>
          </a:xfrm>
          <a:prstGeom prst="ellipse">
            <a:avLst/>
          </a:prstGeom>
          <a:solidFill>
            <a:srgbClr val="EEF2FF"/>
          </a:solidFill>
          <a:ln/>
        </p:spPr>
      </p:sp>
      <p:sp>
        <p:nvSpPr>
          <p:cNvPr id="25" name="Text 23"/>
          <p:cNvSpPr/>
          <p:nvPr/>
        </p:nvSpPr>
        <p:spPr>
          <a:xfrm>
            <a:off x="7920018" y="2331720"/>
            <a:ext cx="512064" cy="512064"/>
          </a:xfrm>
          <a:prstGeom prst="rect">
            <a:avLst/>
          </a:prstGeom>
          <a:noFill/>
          <a:ln/>
        </p:spPr>
        <p:txBody>
          <a:bodyPr wrap="square" lIns="0" tIns="0" rIns="0" bIns="0" rtlCol="0" anchor="ctr"/>
          <a:lstStyle/>
          <a:p>
            <a:pPr algn="ctr" indent="0" marL="0">
              <a:buNone/>
            </a:pPr>
            <a:r>
              <a:rPr lang="en-US" sz="1400" b="1" dirty="0">
                <a:solidFill>
                  <a:srgbClr val="4F46E5"/>
                </a:solidFill>
                <a:latin typeface="Calibri" pitchFamily="34" charset="0"/>
                <a:ea typeface="Calibri" pitchFamily="34" charset="-122"/>
                <a:cs typeface="Calibri" pitchFamily="34" charset="-120"/>
              </a:rPr>
              <a:t>6</a:t>
            </a:r>
            <a:endParaRPr lang="en-US" sz="1400" dirty="0"/>
          </a:p>
        </p:txBody>
      </p:sp>
      <p:sp>
        <p:nvSpPr>
          <p:cNvPr id="26" name="Shape 24"/>
          <p:cNvSpPr/>
          <p:nvPr/>
        </p:nvSpPr>
        <p:spPr>
          <a:xfrm>
            <a:off x="8486946" y="2587752"/>
            <a:ext cx="765010" cy="0"/>
          </a:xfrm>
          <a:prstGeom prst="line">
            <a:avLst/>
          </a:prstGeom>
          <a:noFill/>
          <a:ln w="19050">
            <a:solidFill>
              <a:srgbClr val="E2E8F0"/>
            </a:solidFill>
            <a:prstDash val="solid"/>
          </a:ln>
        </p:spPr>
      </p:sp>
      <p:sp>
        <p:nvSpPr>
          <p:cNvPr id="27" name="Text 25"/>
          <p:cNvSpPr/>
          <p:nvPr/>
        </p:nvSpPr>
        <p:spPr>
          <a:xfrm>
            <a:off x="7519226" y="2971800"/>
            <a:ext cx="1313650" cy="548640"/>
          </a:xfrm>
          <a:prstGeom prst="rect">
            <a:avLst/>
          </a:prstGeom>
          <a:noFill/>
          <a:ln/>
        </p:spPr>
        <p:txBody>
          <a:bodyPr wrap="square" lIns="0" tIns="0" rIns="0" bIns="0" rtlCol="0" anchor="ctr"/>
          <a:lstStyle/>
          <a:p>
            <a:pPr algn="ctr" indent="0" marL="0">
              <a:buNone/>
            </a:pPr>
            <a:r>
              <a:rPr lang="en-US" sz="1100" dirty="0">
                <a:solidFill>
                  <a:srgbClr val="0F172A"/>
                </a:solidFill>
                <a:latin typeface="Calibri" pitchFamily="34" charset="0"/>
                <a:ea typeface="Calibri" pitchFamily="34" charset="-122"/>
                <a:cs typeface="Calibri" pitchFamily="34" charset="-120"/>
              </a:rPr>
              <a:t>Execution</a:t>
            </a:r>
            <a:endParaRPr lang="en-US" sz="1100" dirty="0"/>
          </a:p>
        </p:txBody>
      </p:sp>
      <p:sp>
        <p:nvSpPr>
          <p:cNvPr id="28" name="Shape 26"/>
          <p:cNvSpPr/>
          <p:nvPr/>
        </p:nvSpPr>
        <p:spPr>
          <a:xfrm>
            <a:off x="9306820" y="2331720"/>
            <a:ext cx="512064" cy="512064"/>
          </a:xfrm>
          <a:prstGeom prst="ellipse">
            <a:avLst/>
          </a:prstGeom>
          <a:solidFill>
            <a:srgbClr val="EEF2FF"/>
          </a:solidFill>
          <a:ln/>
        </p:spPr>
      </p:sp>
      <p:sp>
        <p:nvSpPr>
          <p:cNvPr id="29" name="Text 27"/>
          <p:cNvSpPr/>
          <p:nvPr/>
        </p:nvSpPr>
        <p:spPr>
          <a:xfrm>
            <a:off x="9306820" y="2331720"/>
            <a:ext cx="512064" cy="512064"/>
          </a:xfrm>
          <a:prstGeom prst="rect">
            <a:avLst/>
          </a:prstGeom>
          <a:noFill/>
          <a:ln/>
        </p:spPr>
        <p:txBody>
          <a:bodyPr wrap="square" lIns="0" tIns="0" rIns="0" bIns="0" rtlCol="0" anchor="ctr"/>
          <a:lstStyle/>
          <a:p>
            <a:pPr algn="ctr" indent="0" marL="0">
              <a:buNone/>
            </a:pPr>
            <a:r>
              <a:rPr lang="en-US" sz="1400" b="1" dirty="0">
                <a:solidFill>
                  <a:srgbClr val="4F46E5"/>
                </a:solidFill>
                <a:latin typeface="Calibri" pitchFamily="34" charset="0"/>
                <a:ea typeface="Calibri" pitchFamily="34" charset="-122"/>
                <a:cs typeface="Calibri" pitchFamily="34" charset="-120"/>
              </a:rPr>
              <a:t>7</a:t>
            </a:r>
            <a:endParaRPr lang="en-US" sz="1400" dirty="0"/>
          </a:p>
        </p:txBody>
      </p:sp>
      <p:sp>
        <p:nvSpPr>
          <p:cNvPr id="30" name="Shape 28"/>
          <p:cNvSpPr/>
          <p:nvPr/>
        </p:nvSpPr>
        <p:spPr>
          <a:xfrm>
            <a:off x="9873748" y="2587752"/>
            <a:ext cx="765010" cy="0"/>
          </a:xfrm>
          <a:prstGeom prst="line">
            <a:avLst/>
          </a:prstGeom>
          <a:noFill/>
          <a:ln w="19050">
            <a:solidFill>
              <a:srgbClr val="E2E8F0"/>
            </a:solidFill>
            <a:prstDash val="solid"/>
          </a:ln>
        </p:spPr>
      </p:sp>
      <p:sp>
        <p:nvSpPr>
          <p:cNvPr id="31" name="Text 29"/>
          <p:cNvSpPr/>
          <p:nvPr/>
        </p:nvSpPr>
        <p:spPr>
          <a:xfrm>
            <a:off x="8906027" y="2971800"/>
            <a:ext cx="1313650" cy="548640"/>
          </a:xfrm>
          <a:prstGeom prst="rect">
            <a:avLst/>
          </a:prstGeom>
          <a:noFill/>
          <a:ln/>
        </p:spPr>
        <p:txBody>
          <a:bodyPr wrap="square" lIns="0" tIns="0" rIns="0" bIns="0" rtlCol="0" anchor="ctr"/>
          <a:lstStyle/>
          <a:p>
            <a:pPr algn="ctr" indent="0" marL="0">
              <a:buNone/>
            </a:pPr>
            <a:r>
              <a:rPr lang="en-US" sz="1100" dirty="0">
                <a:solidFill>
                  <a:srgbClr val="0F172A"/>
                </a:solidFill>
                <a:latin typeface="Calibri" pitchFamily="34" charset="0"/>
                <a:ea typeface="Calibri" pitchFamily="34" charset="-122"/>
                <a:cs typeface="Calibri" pitchFamily="34" charset="-120"/>
              </a:rPr>
              <a:t>Usage</a:t>
            </a:r>
            <a:endParaRPr lang="en-US" sz="1100" dirty="0"/>
          </a:p>
        </p:txBody>
      </p:sp>
      <p:sp>
        <p:nvSpPr>
          <p:cNvPr id="32" name="Shape 30"/>
          <p:cNvSpPr/>
          <p:nvPr/>
        </p:nvSpPr>
        <p:spPr>
          <a:xfrm>
            <a:off x="10693622" y="2331720"/>
            <a:ext cx="512064" cy="512064"/>
          </a:xfrm>
          <a:prstGeom prst="ellipse">
            <a:avLst/>
          </a:prstGeom>
          <a:solidFill>
            <a:srgbClr val="4F46E5"/>
          </a:solidFill>
          <a:ln/>
        </p:spPr>
      </p:sp>
      <p:sp>
        <p:nvSpPr>
          <p:cNvPr id="33" name="Text 31"/>
          <p:cNvSpPr/>
          <p:nvPr/>
        </p:nvSpPr>
        <p:spPr>
          <a:xfrm>
            <a:off x="10693622" y="2331720"/>
            <a:ext cx="512064" cy="51206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34" name="Text 32"/>
          <p:cNvSpPr/>
          <p:nvPr/>
        </p:nvSpPr>
        <p:spPr>
          <a:xfrm>
            <a:off x="10292829" y="2971800"/>
            <a:ext cx="1313650" cy="548640"/>
          </a:xfrm>
          <a:prstGeom prst="rect">
            <a:avLst/>
          </a:prstGeom>
          <a:noFill/>
          <a:ln/>
        </p:spPr>
        <p:txBody>
          <a:bodyPr wrap="square" lIns="0" tIns="0" rIns="0" bIns="0" rtlCol="0" anchor="ctr"/>
          <a:lstStyle/>
          <a:p>
            <a:pPr algn="ctr" indent="0" marL="0">
              <a:buNone/>
            </a:pPr>
            <a:r>
              <a:rPr lang="en-US" sz="1100" b="1" dirty="0">
                <a:solidFill>
                  <a:srgbClr val="0F172A"/>
                </a:solidFill>
                <a:latin typeface="Calibri" pitchFamily="34" charset="0"/>
                <a:ea typeface="Calibri" pitchFamily="34" charset="-122"/>
                <a:cs typeface="Calibri" pitchFamily="34" charset="-120"/>
              </a:rPr>
              <a:t>Evidence</a:t>
            </a:r>
            <a:endParaRPr lang="en-US" sz="1100" dirty="0"/>
          </a:p>
        </p:txBody>
      </p:sp>
      <p:sp>
        <p:nvSpPr>
          <p:cNvPr id="35" name="Shape 33"/>
          <p:cNvSpPr/>
          <p:nvPr/>
        </p:nvSpPr>
        <p:spPr>
          <a:xfrm>
            <a:off x="1645920" y="3977640"/>
            <a:ext cx="8897112" cy="1417320"/>
          </a:xfrm>
          <a:prstGeom prst="roundRect">
            <a:avLst>
              <a:gd name="adj" fmla="val 7742"/>
            </a:avLst>
          </a:prstGeom>
          <a:solidFill>
            <a:srgbClr val="F8FAFC"/>
          </a:solidFill>
          <a:ln w="12700">
            <a:solidFill>
              <a:srgbClr val="E2E8F0"/>
            </a:solidFill>
            <a:prstDash val="solid"/>
          </a:ln>
          <a:effectLst>
            <a:outerShdw sx="100000" sy="100000" kx="0" ky="0" algn="bl" rotWithShape="0" blurRad="127000" dist="25400" dir="5400000">
              <a:srgbClr val="0F172A">
                <a:alpha val="10000"/>
              </a:srgbClr>
            </a:outerShdw>
          </a:effectLst>
        </p:spPr>
      </p:sp>
      <p:sp>
        <p:nvSpPr>
          <p:cNvPr id="36" name="Text 34"/>
          <p:cNvSpPr/>
          <p:nvPr/>
        </p:nvSpPr>
        <p:spPr>
          <a:xfrm>
            <a:off x="1965960" y="4187952"/>
            <a:ext cx="8229600" cy="274320"/>
          </a:xfrm>
          <a:prstGeom prst="rect">
            <a:avLst/>
          </a:prstGeom>
          <a:noFill/>
          <a:ln/>
        </p:spPr>
        <p:txBody>
          <a:bodyPr wrap="square" lIns="0" tIns="0" rIns="0" bIns="0" rtlCol="0" anchor="ctr"/>
          <a:lstStyle/>
          <a:p>
            <a:pPr indent="0" marL="0">
              <a:buNone/>
            </a:pPr>
            <a:r>
              <a:rPr lang="en-US" sz="1050" b="1" spc="150" kern="0" dirty="0">
                <a:solidFill>
                  <a:srgbClr val="4F46E5"/>
                </a:solidFill>
                <a:latin typeface="Calibri" pitchFamily="34" charset="0"/>
                <a:ea typeface="Calibri" pitchFamily="34" charset="-122"/>
                <a:cs typeface="Calibri" pitchFamily="34" charset="-120"/>
              </a:rPr>
              <a:t>REFERENCE SCENARIO</a:t>
            </a:r>
            <a:endParaRPr lang="en-US" sz="1050" dirty="0"/>
          </a:p>
        </p:txBody>
      </p:sp>
      <p:sp>
        <p:nvSpPr>
          <p:cNvPr id="37" name="Text 35"/>
          <p:cNvSpPr/>
          <p:nvPr/>
        </p:nvSpPr>
        <p:spPr>
          <a:xfrm>
            <a:off x="1965960" y="4498848"/>
            <a:ext cx="8257032" cy="777240"/>
          </a:xfrm>
          <a:prstGeom prst="rect">
            <a:avLst/>
          </a:prstGeom>
          <a:noFill/>
          <a:ln/>
        </p:spPr>
        <p:txBody>
          <a:bodyPr wrap="square" lIns="0" tIns="0" rIns="0" bIns="0" rtlCol="0" anchor="ctr"/>
          <a:lstStyle/>
          <a:p>
            <a:pPr indent="0" marL="0">
              <a:lnSpc>
                <a:spcPct val="115000"/>
              </a:lnSpc>
              <a:buNone/>
            </a:pPr>
            <a:r>
              <a:rPr lang="en-US" sz="1350" dirty="0">
                <a:solidFill>
                  <a:srgbClr val="0F172A"/>
                </a:solidFill>
                <a:latin typeface="Calibri" pitchFamily="34" charset="0"/>
                <a:ea typeface="Calibri" pitchFamily="34" charset="-122"/>
                <a:cs typeface="Calibri" pitchFamily="34" charset="-120"/>
              </a:rPr>
              <a:t>M&amp;A data-room access — outside counsel is granted a 24-hour, read-only, watermark-flagged view of a confidential target report. Every view is logged; nothing is ever downloaded.</a:t>
            </a:r>
            <a:endParaRPr lang="en-US" sz="1350" dirty="0"/>
          </a:p>
        </p:txBody>
      </p:sp>
      <p:sp>
        <p:nvSpPr>
          <p:cNvPr id="38" name="Text 36"/>
          <p:cNvSpPr/>
          <p:nvPr/>
        </p:nvSpPr>
        <p:spPr>
          <a:xfrm>
            <a:off x="548640" y="6419088"/>
            <a:ext cx="9631375" cy="320040"/>
          </a:xfrm>
          <a:prstGeom prst="rect">
            <a:avLst/>
          </a:prstGeom>
          <a:noFill/>
          <a:ln/>
        </p:spPr>
        <p:txBody>
          <a:bodyPr wrap="square" lIns="0" tIns="0" rIns="0" bIns="0" rtlCol="0" anchor="ctr"/>
          <a:lstStyle/>
          <a:p>
            <a:pPr algn="l" indent="0" marL="0">
              <a:buNone/>
            </a:pPr>
            <a:r>
              <a:rPr lang="en-US" sz="900" dirty="0">
                <a:solidFill>
                  <a:srgbClr val="94A3B8"/>
                </a:solidFill>
                <a:latin typeface="Calibri" pitchFamily="34" charset="0"/>
                <a:ea typeface="Calibri" pitchFamily="34" charset="-122"/>
                <a:cs typeface="Calibri" pitchFamily="34" charset="-120"/>
              </a:rPr>
              <a:t>Reference: docs/commercial/R006-COMMERCIAL-REFERENCE-DEMO.md</a:t>
            </a:r>
            <a:endParaRPr lang="en-US" sz="900" dirty="0"/>
          </a:p>
        </p:txBody>
      </p:sp>
      <p:sp>
        <p:nvSpPr>
          <p:cNvPr id="39" name="Text 37"/>
          <p:cNvSpPr/>
          <p:nvPr/>
        </p:nvSpPr>
        <p:spPr>
          <a:xfrm>
            <a:off x="10362895" y="6419088"/>
            <a:ext cx="1280160" cy="320040"/>
          </a:xfrm>
          <a:prstGeom prst="rect">
            <a:avLst/>
          </a:prstGeom>
          <a:noFill/>
          <a:ln/>
        </p:spPr>
        <p:txBody>
          <a:bodyPr wrap="square" lIns="0" tIns="0" rIns="0" bIns="0" rtlCol="0" anchor="ctr"/>
          <a:lstStyle/>
          <a:p>
            <a:pPr algn="r" indent="0" marL="0">
              <a:buNone/>
            </a:pPr>
            <a:r>
              <a:rPr lang="en-US" sz="900" spc="100" kern="0" dirty="0">
                <a:solidFill>
                  <a:srgbClr val="94A3B8"/>
                </a:solidFill>
                <a:latin typeface="Calibri" pitchFamily="34" charset="0"/>
                <a:ea typeface="Calibri" pitchFamily="34" charset="-122"/>
                <a:cs typeface="Calibri" pitchFamily="34" charset="-120"/>
              </a:rPr>
              <a:t>SK005</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11094415" cy="822960"/>
          </a:xfrm>
          <a:prstGeom prst="rect">
            <a:avLst/>
          </a:prstGeom>
          <a:noFill/>
          <a:ln/>
        </p:spPr>
        <p:txBody>
          <a:bodyPr wrap="square" lIns="0" tIns="0" rIns="0" bIns="0" rtlCol="0" anchor="ctr"/>
          <a:lstStyle/>
          <a:p>
            <a:pPr algn="l" indent="0" marL="0">
              <a:buNone/>
            </a:pPr>
            <a:r>
              <a:rPr lang="en-US" sz="3200" b="1" dirty="0">
                <a:solidFill>
                  <a:srgbClr val="0F172A"/>
                </a:solidFill>
                <a:latin typeface="Calibri" pitchFamily="34" charset="0"/>
                <a:ea typeface="Calibri" pitchFamily="34" charset="-122"/>
                <a:cs typeface="Calibri" pitchFamily="34" charset="-120"/>
              </a:rPr>
              <a:t>One governance layer. Any provider underneath.</a:t>
            </a:r>
            <a:endParaRPr lang="en-US" sz="3200" dirty="0"/>
          </a:p>
        </p:txBody>
      </p:sp>
      <p:sp>
        <p:nvSpPr>
          <p:cNvPr id="3" name="Text 1"/>
          <p:cNvSpPr/>
          <p:nvPr/>
        </p:nvSpPr>
        <p:spPr>
          <a:xfrm>
            <a:off x="548640" y="1298448"/>
            <a:ext cx="11094415" cy="502920"/>
          </a:xfrm>
          <a:prstGeom prst="rect">
            <a:avLst/>
          </a:prstGeom>
          <a:noFill/>
          <a:ln/>
        </p:spPr>
        <p:txBody>
          <a:bodyPr wrap="square" lIns="0" tIns="0" rIns="0" bIns="0" rtlCol="0" anchor="ctr"/>
          <a:lstStyle/>
          <a:p>
            <a:pPr algn="l" indent="0" marL="0">
              <a:buNone/>
            </a:pPr>
            <a:r>
              <a:rPr lang="en-US" sz="1450" dirty="0">
                <a:solidFill>
                  <a:srgbClr val="64748B"/>
                </a:solidFill>
                <a:latin typeface="Calibri" pitchFamily="34" charset="0"/>
                <a:ea typeface="Calibri" pitchFamily="34" charset="-122"/>
                <a:cs typeface="Calibri" pitchFamily="34" charset="-120"/>
              </a:rPr>
              <a:t>Enterprise never holds a credential. Only grant status and usage cross the boundary.</a:t>
            </a:r>
            <a:endParaRPr lang="en-US" sz="1450" dirty="0"/>
          </a:p>
        </p:txBody>
      </p:sp>
      <p:sp>
        <p:nvSpPr>
          <p:cNvPr id="4" name="Shape 2"/>
          <p:cNvSpPr/>
          <p:nvPr/>
        </p:nvSpPr>
        <p:spPr>
          <a:xfrm>
            <a:off x="1737360" y="1874520"/>
            <a:ext cx="8714232" cy="658368"/>
          </a:xfrm>
          <a:prstGeom prst="roundRect">
            <a:avLst>
              <a:gd name="adj" fmla="val 16667"/>
            </a:avLst>
          </a:prstGeom>
          <a:solidFill>
            <a:srgbClr val="F1F5F9"/>
          </a:solidFill>
          <a:ln w="12700">
            <a:solidFill>
              <a:srgbClr val="E2E8F0"/>
            </a:solidFill>
            <a:prstDash val="solid"/>
          </a:ln>
          <a:effectLst>
            <a:outerShdw sx="100000" sy="100000" kx="0" ky="0" algn="bl" rotWithShape="0" blurRad="127000" dist="25400" dir="5400000">
              <a:srgbClr val="0F172A">
                <a:alpha val="10000"/>
              </a:srgbClr>
            </a:outerShdw>
          </a:effectLst>
        </p:spPr>
      </p:sp>
      <p:sp>
        <p:nvSpPr>
          <p:cNvPr id="5" name="Text 3"/>
          <p:cNvSpPr/>
          <p:nvPr/>
        </p:nvSpPr>
        <p:spPr>
          <a:xfrm>
            <a:off x="2011680" y="1938528"/>
            <a:ext cx="8165592" cy="274320"/>
          </a:xfrm>
          <a:prstGeom prst="rect">
            <a:avLst/>
          </a:prstGeom>
          <a:noFill/>
          <a:ln/>
        </p:spPr>
        <p:txBody>
          <a:bodyPr wrap="square" lIns="0" tIns="0" rIns="0" bIns="0" rtlCol="0" anchor="ctr"/>
          <a:lstStyle/>
          <a:p>
            <a:pPr indent="0" marL="0">
              <a:buNone/>
            </a:pPr>
            <a:r>
              <a:rPr lang="en-US" sz="1300" b="1" spc="100" kern="0" dirty="0">
                <a:solidFill>
                  <a:srgbClr val="64748B"/>
                </a:solidFill>
                <a:latin typeface="Calibri" pitchFamily="34" charset="0"/>
                <a:ea typeface="Calibri" pitchFamily="34" charset="-122"/>
                <a:cs typeface="Calibri" pitchFamily="34" charset="-120"/>
              </a:rPr>
              <a:t>AOC PROTOCOL</a:t>
            </a:r>
            <a:endParaRPr lang="en-US" sz="1300" dirty="0"/>
          </a:p>
        </p:txBody>
      </p:sp>
      <p:sp>
        <p:nvSpPr>
          <p:cNvPr id="6" name="Text 4"/>
          <p:cNvSpPr/>
          <p:nvPr/>
        </p:nvSpPr>
        <p:spPr>
          <a:xfrm>
            <a:off x="2011680" y="2194560"/>
            <a:ext cx="8165592" cy="274320"/>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identity · consent · capability tokens · audit envelopes</a:t>
            </a:r>
            <a:endParaRPr lang="en-US" sz="1050" dirty="0"/>
          </a:p>
        </p:txBody>
      </p:sp>
      <p:pic>
        <p:nvPicPr>
          <p:cNvPr id="7" name="Image 0" descr="preencoded.png">    </p:cNvPr>
          <p:cNvPicPr>
            <a:picLocks noChangeAspect="1"/>
          </p:cNvPicPr>
          <p:nvPr/>
        </p:nvPicPr>
        <p:blipFill>
          <a:blip r:embed="rId1"/>
          <a:stretch>
            <a:fillRect/>
          </a:stretch>
        </p:blipFill>
        <p:spPr>
          <a:xfrm>
            <a:off x="5995264" y="2560320"/>
            <a:ext cx="201168" cy="201168"/>
          </a:xfrm>
          <a:prstGeom prst="rect">
            <a:avLst/>
          </a:prstGeom>
        </p:spPr>
      </p:pic>
      <p:sp>
        <p:nvSpPr>
          <p:cNvPr id="8" name="Shape 5"/>
          <p:cNvSpPr/>
          <p:nvPr/>
        </p:nvSpPr>
        <p:spPr>
          <a:xfrm>
            <a:off x="1737360" y="2788920"/>
            <a:ext cx="8714232" cy="841248"/>
          </a:xfrm>
          <a:prstGeom prst="roundRect">
            <a:avLst>
              <a:gd name="adj" fmla="val 10870"/>
            </a:avLst>
          </a:prstGeom>
          <a:solidFill>
            <a:srgbClr val="4F46E5"/>
          </a:solidFill>
          <a:ln/>
          <a:effectLst>
            <a:outerShdw sx="100000" sy="100000" kx="0" ky="0" algn="bl" rotWithShape="0" blurRad="127000" dist="25400" dir="5400000">
              <a:srgbClr val="0F172A">
                <a:alpha val="10000"/>
              </a:srgbClr>
            </a:outerShdw>
          </a:effectLst>
        </p:spPr>
      </p:sp>
      <p:sp>
        <p:nvSpPr>
          <p:cNvPr id="9" name="Text 6"/>
          <p:cNvSpPr/>
          <p:nvPr/>
        </p:nvSpPr>
        <p:spPr>
          <a:xfrm>
            <a:off x="2011680" y="2871216"/>
            <a:ext cx="8165592" cy="292608"/>
          </a:xfrm>
          <a:prstGeom prst="rect">
            <a:avLst/>
          </a:prstGeom>
          <a:noFill/>
          <a:ln/>
        </p:spPr>
        <p:txBody>
          <a:bodyPr wrap="square" lIns="0" tIns="0" rIns="0" bIns="0" rtlCol="0" anchor="ctr"/>
          <a:lstStyle/>
          <a:p>
            <a:pPr indent="0" marL="0">
              <a:buNone/>
            </a:pPr>
            <a:r>
              <a:rPr lang="en-US" sz="1400" b="1" spc="100" kern="0" dirty="0">
                <a:solidFill>
                  <a:srgbClr val="FFFFFF"/>
                </a:solidFill>
                <a:latin typeface="Calibri" pitchFamily="34" charset="0"/>
                <a:ea typeface="Calibri" pitchFamily="34" charset="-122"/>
                <a:cs typeface="Calibri" pitchFamily="34" charset="-120"/>
              </a:rPr>
              <a:t>AOC ENTERPRISE</a:t>
            </a:r>
            <a:endParaRPr lang="en-US" sz="1400" dirty="0"/>
          </a:p>
        </p:txBody>
      </p:sp>
      <p:sp>
        <p:nvSpPr>
          <p:cNvPr id="10" name="Text 7"/>
          <p:cNvSpPr/>
          <p:nvPr/>
        </p:nvSpPr>
        <p:spPr>
          <a:xfrm>
            <a:off x="2011680" y="3200400"/>
            <a:ext cx="8165592" cy="365760"/>
          </a:xfrm>
          <a:prstGeom prst="rect">
            <a:avLst/>
          </a:prstGeom>
          <a:noFill/>
          <a:ln/>
        </p:spPr>
        <p:txBody>
          <a:bodyPr wrap="square" lIns="0" tIns="0" rIns="0" bIns="0" rtlCol="0" anchor="ctr"/>
          <a:lstStyle/>
          <a:p>
            <a:pPr indent="0" marL="0">
              <a:buNone/>
            </a:pPr>
            <a:r>
              <a:rPr lang="en-US" sz="1050" dirty="0">
                <a:solidFill>
                  <a:srgbClr val="C7D2FE"/>
                </a:solidFill>
                <a:latin typeface="Calibri" pitchFamily="34" charset="0"/>
                <a:ea typeface="Calibri" pitchFamily="34" charset="-122"/>
                <a:cs typeface="Calibri" pitchFamily="34" charset="-120"/>
              </a:rPr>
              <a:t>Decision · Obligation · Grant · Revocation · Usage · Evidence — cannot hold a credential or SDK type</a:t>
            </a:r>
            <a:endParaRPr lang="en-US" sz="1050" dirty="0"/>
          </a:p>
        </p:txBody>
      </p:sp>
      <p:pic>
        <p:nvPicPr>
          <p:cNvPr id="11" name="Image 1" descr="preencoded.png">    </p:cNvPr>
          <p:cNvPicPr>
            <a:picLocks noChangeAspect="1"/>
          </p:cNvPicPr>
          <p:nvPr/>
        </p:nvPicPr>
        <p:blipFill>
          <a:blip r:embed="rId2"/>
          <a:stretch>
            <a:fillRect/>
          </a:stretch>
        </p:blipFill>
        <p:spPr>
          <a:xfrm>
            <a:off x="5995264" y="3739896"/>
            <a:ext cx="201168" cy="201168"/>
          </a:xfrm>
          <a:prstGeom prst="rect">
            <a:avLst/>
          </a:prstGeom>
        </p:spPr>
      </p:pic>
      <p:sp>
        <p:nvSpPr>
          <p:cNvPr id="12" name="Shape 8"/>
          <p:cNvSpPr/>
          <p:nvPr/>
        </p:nvSpPr>
        <p:spPr>
          <a:xfrm>
            <a:off x="1737360" y="4005072"/>
            <a:ext cx="8714232" cy="658368"/>
          </a:xfrm>
          <a:prstGeom prst="roundRect">
            <a:avLst>
              <a:gd name="adj" fmla="val 16667"/>
            </a:avLst>
          </a:prstGeom>
          <a:solidFill>
            <a:srgbClr val="F1F5F9"/>
          </a:solidFill>
          <a:ln w="12700">
            <a:solidFill>
              <a:srgbClr val="E2E8F0"/>
            </a:solidFill>
            <a:prstDash val="solid"/>
          </a:ln>
          <a:effectLst>
            <a:outerShdw sx="100000" sy="100000" kx="0" ky="0" algn="bl" rotWithShape="0" blurRad="127000" dist="25400" dir="5400000">
              <a:srgbClr val="0F172A">
                <a:alpha val="10000"/>
              </a:srgbClr>
            </a:outerShdw>
          </a:effectLst>
        </p:spPr>
      </p:sp>
      <p:sp>
        <p:nvSpPr>
          <p:cNvPr id="13" name="Text 9"/>
          <p:cNvSpPr/>
          <p:nvPr/>
        </p:nvSpPr>
        <p:spPr>
          <a:xfrm>
            <a:off x="2011680" y="4069080"/>
            <a:ext cx="8165592" cy="274320"/>
          </a:xfrm>
          <a:prstGeom prst="rect">
            <a:avLst/>
          </a:prstGeom>
          <a:noFill/>
          <a:ln/>
        </p:spPr>
        <p:txBody>
          <a:bodyPr wrap="square" lIns="0" tIns="0" rIns="0" bIns="0" rtlCol="0" anchor="ctr"/>
          <a:lstStyle/>
          <a:p>
            <a:pPr indent="0" marL="0">
              <a:buNone/>
            </a:pPr>
            <a:r>
              <a:rPr lang="en-US" sz="1300" b="1" spc="100" kern="0" dirty="0">
                <a:solidFill>
                  <a:srgbClr val="64748B"/>
                </a:solidFill>
                <a:latin typeface="Calibri" pitchFamily="34" charset="0"/>
                <a:ea typeface="Calibri" pitchFamily="34" charset="-122"/>
                <a:cs typeface="Calibri" pitchFamily="34" charset="-120"/>
              </a:rPr>
              <a:t>PROVIDER ADAPTER</a:t>
            </a:r>
            <a:endParaRPr lang="en-US" sz="1300" dirty="0"/>
          </a:p>
        </p:txBody>
      </p:sp>
      <p:sp>
        <p:nvSpPr>
          <p:cNvPr id="14" name="Text 10"/>
          <p:cNvSpPr/>
          <p:nvPr/>
        </p:nvSpPr>
        <p:spPr>
          <a:xfrm>
            <a:off x="2011680" y="4325112"/>
            <a:ext cx="8165592" cy="274320"/>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reads only resource · status · expiry — writes only usage events</a:t>
            </a:r>
            <a:endParaRPr lang="en-US" sz="1050" dirty="0"/>
          </a:p>
        </p:txBody>
      </p:sp>
      <p:pic>
        <p:nvPicPr>
          <p:cNvPr id="15" name="Image 2" descr="preencoded.png">    </p:cNvPr>
          <p:cNvPicPr>
            <a:picLocks noChangeAspect="1"/>
          </p:cNvPicPr>
          <p:nvPr/>
        </p:nvPicPr>
        <p:blipFill>
          <a:blip r:embed="rId3"/>
          <a:stretch>
            <a:fillRect/>
          </a:stretch>
        </p:blipFill>
        <p:spPr>
          <a:xfrm>
            <a:off x="5995264" y="4690872"/>
            <a:ext cx="201168" cy="201168"/>
          </a:xfrm>
          <a:prstGeom prst="rect">
            <a:avLst/>
          </a:prstGeom>
        </p:spPr>
      </p:pic>
      <p:sp>
        <p:nvSpPr>
          <p:cNvPr id="16" name="Shape 11"/>
          <p:cNvSpPr/>
          <p:nvPr/>
        </p:nvSpPr>
        <p:spPr>
          <a:xfrm>
            <a:off x="1737360" y="4956048"/>
            <a:ext cx="1627632" cy="713232"/>
          </a:xfrm>
          <a:prstGeom prst="roundRect">
            <a:avLst>
              <a:gd name="adj" fmla="val 10256"/>
            </a:avLst>
          </a:prstGeom>
          <a:solidFill>
            <a:srgbClr val="4F46E5"/>
          </a:solidFill>
          <a:ln/>
        </p:spPr>
      </p:sp>
      <p:sp>
        <p:nvSpPr>
          <p:cNvPr id="17" name="Text 12"/>
          <p:cNvSpPr/>
          <p:nvPr/>
        </p:nvSpPr>
        <p:spPr>
          <a:xfrm>
            <a:off x="1737360" y="4956048"/>
            <a:ext cx="1627632" cy="420624"/>
          </a:xfrm>
          <a:prstGeom prst="rect">
            <a:avLst/>
          </a:prstGeom>
          <a:noFill/>
          <a:ln/>
        </p:spPr>
        <p:txBody>
          <a:bodyPr wrap="square" lIns="0" tIns="0" rIns="0" bIns="0" rtlCol="0" anchor="b"/>
          <a:lstStyle/>
          <a:p>
            <a:pPr algn="ctr" indent="0" marL="0">
              <a:buNone/>
            </a:pPr>
            <a:r>
              <a:rPr lang="en-US" sz="1200" b="1" dirty="0">
                <a:solidFill>
                  <a:srgbClr val="FFFFFF"/>
                </a:solidFill>
                <a:latin typeface="Calibri" pitchFamily="34" charset="0"/>
                <a:ea typeface="Calibri" pitchFamily="34" charset="-122"/>
                <a:cs typeface="Calibri" pitchFamily="34" charset="-120"/>
              </a:rPr>
              <a:t>Pinata</a:t>
            </a:r>
            <a:endParaRPr lang="en-US" sz="1200" dirty="0"/>
          </a:p>
        </p:txBody>
      </p:sp>
      <p:sp>
        <p:nvSpPr>
          <p:cNvPr id="18" name="Text 13"/>
          <p:cNvSpPr/>
          <p:nvPr/>
        </p:nvSpPr>
        <p:spPr>
          <a:xfrm>
            <a:off x="1737360" y="5376672"/>
            <a:ext cx="1627632" cy="256032"/>
          </a:xfrm>
          <a:prstGeom prst="rect">
            <a:avLst/>
          </a:prstGeom>
          <a:noFill/>
          <a:ln/>
        </p:spPr>
        <p:txBody>
          <a:bodyPr wrap="square" lIns="0" tIns="0" rIns="0" bIns="0" rtlCol="0" anchor="ctr"/>
          <a:lstStyle/>
          <a:p>
            <a:pPr algn="ctr" indent="0" marL="0">
              <a:buNone/>
            </a:pPr>
            <a:r>
              <a:rPr lang="en-US" sz="850" b="1" spc="100" kern="0" dirty="0">
                <a:solidFill>
                  <a:srgbClr val="C7D2FE"/>
                </a:solidFill>
                <a:latin typeface="Calibri" pitchFamily="34" charset="0"/>
                <a:ea typeface="Calibri" pitchFamily="34" charset="-122"/>
                <a:cs typeface="Calibri" pitchFamily="34" charset="-120"/>
              </a:rPr>
              <a:t>LIVE</a:t>
            </a:r>
            <a:endParaRPr lang="en-US" sz="850" dirty="0"/>
          </a:p>
        </p:txBody>
      </p:sp>
      <p:sp>
        <p:nvSpPr>
          <p:cNvPr id="19" name="Shape 14"/>
          <p:cNvSpPr/>
          <p:nvPr/>
        </p:nvSpPr>
        <p:spPr>
          <a:xfrm>
            <a:off x="3509010" y="4956048"/>
            <a:ext cx="1627632" cy="713232"/>
          </a:xfrm>
          <a:prstGeom prst="roundRect">
            <a:avLst>
              <a:gd name="adj" fmla="val 10256"/>
            </a:avLst>
          </a:prstGeom>
          <a:solidFill>
            <a:srgbClr val="F1F5F9"/>
          </a:solidFill>
          <a:ln/>
        </p:spPr>
      </p:sp>
      <p:sp>
        <p:nvSpPr>
          <p:cNvPr id="20" name="Text 15"/>
          <p:cNvSpPr/>
          <p:nvPr/>
        </p:nvSpPr>
        <p:spPr>
          <a:xfrm>
            <a:off x="3509010" y="4956048"/>
            <a:ext cx="1627632" cy="420624"/>
          </a:xfrm>
          <a:prstGeom prst="rect">
            <a:avLst/>
          </a:prstGeom>
          <a:noFill/>
          <a:ln/>
        </p:spPr>
        <p:txBody>
          <a:bodyPr wrap="square" lIns="0" tIns="0" rIns="0" bIns="0" rtlCol="0" anchor="b"/>
          <a:lstStyle/>
          <a:p>
            <a:pPr algn="ctr" indent="0" marL="0">
              <a:buNone/>
            </a:pPr>
            <a:r>
              <a:rPr lang="en-US" sz="1200" dirty="0">
                <a:solidFill>
                  <a:srgbClr val="0F172A"/>
                </a:solidFill>
                <a:latin typeface="Calibri" pitchFamily="34" charset="0"/>
                <a:ea typeface="Calibri" pitchFamily="34" charset="-122"/>
                <a:cs typeface="Calibri" pitchFamily="34" charset="-120"/>
              </a:rPr>
              <a:t>S3</a:t>
            </a:r>
            <a:endParaRPr lang="en-US" sz="1200" dirty="0"/>
          </a:p>
        </p:txBody>
      </p:sp>
      <p:sp>
        <p:nvSpPr>
          <p:cNvPr id="21" name="Text 16"/>
          <p:cNvSpPr/>
          <p:nvPr/>
        </p:nvSpPr>
        <p:spPr>
          <a:xfrm>
            <a:off x="3509010" y="5376672"/>
            <a:ext cx="1627632" cy="256032"/>
          </a:xfrm>
          <a:prstGeom prst="rect">
            <a:avLst/>
          </a:prstGeom>
          <a:noFill/>
          <a:ln/>
        </p:spPr>
        <p:txBody>
          <a:bodyPr wrap="square" lIns="0" tIns="0" rIns="0" bIns="0" rtlCol="0" anchor="ctr"/>
          <a:lstStyle/>
          <a:p>
            <a:pPr algn="ctr" indent="0" marL="0">
              <a:buNone/>
            </a:pPr>
            <a:r>
              <a:rPr lang="en-US" sz="850" b="1" spc="100" kern="0" dirty="0">
                <a:solidFill>
                  <a:srgbClr val="94A3B8"/>
                </a:solidFill>
                <a:latin typeface="Calibri" pitchFamily="34" charset="0"/>
                <a:ea typeface="Calibri" pitchFamily="34" charset="-122"/>
                <a:cs typeface="Calibri" pitchFamily="34" charset="-120"/>
              </a:rPr>
              <a:t>ROADMAP</a:t>
            </a:r>
            <a:endParaRPr lang="en-US" sz="850" dirty="0"/>
          </a:p>
        </p:txBody>
      </p:sp>
      <p:sp>
        <p:nvSpPr>
          <p:cNvPr id="22" name="Shape 17"/>
          <p:cNvSpPr/>
          <p:nvPr/>
        </p:nvSpPr>
        <p:spPr>
          <a:xfrm>
            <a:off x="5280660" y="4956048"/>
            <a:ext cx="1627632" cy="713232"/>
          </a:xfrm>
          <a:prstGeom prst="roundRect">
            <a:avLst>
              <a:gd name="adj" fmla="val 10256"/>
            </a:avLst>
          </a:prstGeom>
          <a:solidFill>
            <a:srgbClr val="F1F5F9"/>
          </a:solidFill>
          <a:ln/>
        </p:spPr>
      </p:sp>
      <p:sp>
        <p:nvSpPr>
          <p:cNvPr id="23" name="Text 18"/>
          <p:cNvSpPr/>
          <p:nvPr/>
        </p:nvSpPr>
        <p:spPr>
          <a:xfrm>
            <a:off x="5280660" y="4956048"/>
            <a:ext cx="1627632" cy="420624"/>
          </a:xfrm>
          <a:prstGeom prst="rect">
            <a:avLst/>
          </a:prstGeom>
          <a:noFill/>
          <a:ln/>
        </p:spPr>
        <p:txBody>
          <a:bodyPr wrap="square" lIns="0" tIns="0" rIns="0" bIns="0" rtlCol="0" anchor="b"/>
          <a:lstStyle/>
          <a:p>
            <a:pPr algn="ctr" indent="0" marL="0">
              <a:buNone/>
            </a:pPr>
            <a:r>
              <a:rPr lang="en-US" sz="1200" dirty="0">
                <a:solidFill>
                  <a:srgbClr val="0F172A"/>
                </a:solidFill>
                <a:latin typeface="Calibri" pitchFamily="34" charset="0"/>
                <a:ea typeface="Calibri" pitchFamily="34" charset="-122"/>
                <a:cs typeface="Calibri" pitchFamily="34" charset="-120"/>
              </a:rPr>
              <a:t>Azure Blob</a:t>
            </a:r>
            <a:endParaRPr lang="en-US" sz="1200" dirty="0"/>
          </a:p>
        </p:txBody>
      </p:sp>
      <p:sp>
        <p:nvSpPr>
          <p:cNvPr id="24" name="Text 19"/>
          <p:cNvSpPr/>
          <p:nvPr/>
        </p:nvSpPr>
        <p:spPr>
          <a:xfrm>
            <a:off x="5280660" y="5376672"/>
            <a:ext cx="1627632" cy="256032"/>
          </a:xfrm>
          <a:prstGeom prst="rect">
            <a:avLst/>
          </a:prstGeom>
          <a:noFill/>
          <a:ln/>
        </p:spPr>
        <p:txBody>
          <a:bodyPr wrap="square" lIns="0" tIns="0" rIns="0" bIns="0" rtlCol="0" anchor="ctr"/>
          <a:lstStyle/>
          <a:p>
            <a:pPr algn="ctr" indent="0" marL="0">
              <a:buNone/>
            </a:pPr>
            <a:r>
              <a:rPr lang="en-US" sz="850" b="1" spc="100" kern="0" dirty="0">
                <a:solidFill>
                  <a:srgbClr val="94A3B8"/>
                </a:solidFill>
                <a:latin typeface="Calibri" pitchFamily="34" charset="0"/>
                <a:ea typeface="Calibri" pitchFamily="34" charset="-122"/>
                <a:cs typeface="Calibri" pitchFamily="34" charset="-120"/>
              </a:rPr>
              <a:t>ROADMAP</a:t>
            </a:r>
            <a:endParaRPr lang="en-US" sz="850" dirty="0"/>
          </a:p>
        </p:txBody>
      </p:sp>
      <p:sp>
        <p:nvSpPr>
          <p:cNvPr id="25" name="Shape 20"/>
          <p:cNvSpPr/>
          <p:nvPr/>
        </p:nvSpPr>
        <p:spPr>
          <a:xfrm>
            <a:off x="7052310" y="4956048"/>
            <a:ext cx="1627632" cy="713232"/>
          </a:xfrm>
          <a:prstGeom prst="roundRect">
            <a:avLst>
              <a:gd name="adj" fmla="val 10256"/>
            </a:avLst>
          </a:prstGeom>
          <a:solidFill>
            <a:srgbClr val="F1F5F9"/>
          </a:solidFill>
          <a:ln/>
        </p:spPr>
      </p:sp>
      <p:sp>
        <p:nvSpPr>
          <p:cNvPr id="26" name="Text 21"/>
          <p:cNvSpPr/>
          <p:nvPr/>
        </p:nvSpPr>
        <p:spPr>
          <a:xfrm>
            <a:off x="7052310" y="4956048"/>
            <a:ext cx="1627632" cy="420624"/>
          </a:xfrm>
          <a:prstGeom prst="rect">
            <a:avLst/>
          </a:prstGeom>
          <a:noFill/>
          <a:ln/>
        </p:spPr>
        <p:txBody>
          <a:bodyPr wrap="square" lIns="0" tIns="0" rIns="0" bIns="0" rtlCol="0" anchor="b"/>
          <a:lstStyle/>
          <a:p>
            <a:pPr algn="ctr" indent="0" marL="0">
              <a:buNone/>
            </a:pPr>
            <a:r>
              <a:rPr lang="en-US" sz="1200" dirty="0">
                <a:solidFill>
                  <a:srgbClr val="0F172A"/>
                </a:solidFill>
                <a:latin typeface="Calibri" pitchFamily="34" charset="0"/>
                <a:ea typeface="Calibri" pitchFamily="34" charset="-122"/>
                <a:cs typeface="Calibri" pitchFamily="34" charset="-120"/>
              </a:rPr>
              <a:t>Google Drive</a:t>
            </a:r>
            <a:endParaRPr lang="en-US" sz="1200" dirty="0"/>
          </a:p>
        </p:txBody>
      </p:sp>
      <p:sp>
        <p:nvSpPr>
          <p:cNvPr id="27" name="Text 22"/>
          <p:cNvSpPr/>
          <p:nvPr/>
        </p:nvSpPr>
        <p:spPr>
          <a:xfrm>
            <a:off x="7052310" y="5376672"/>
            <a:ext cx="1627632" cy="256032"/>
          </a:xfrm>
          <a:prstGeom prst="rect">
            <a:avLst/>
          </a:prstGeom>
          <a:noFill/>
          <a:ln/>
        </p:spPr>
        <p:txBody>
          <a:bodyPr wrap="square" lIns="0" tIns="0" rIns="0" bIns="0" rtlCol="0" anchor="ctr"/>
          <a:lstStyle/>
          <a:p>
            <a:pPr algn="ctr" indent="0" marL="0">
              <a:buNone/>
            </a:pPr>
            <a:r>
              <a:rPr lang="en-US" sz="850" b="1" spc="100" kern="0" dirty="0">
                <a:solidFill>
                  <a:srgbClr val="94A3B8"/>
                </a:solidFill>
                <a:latin typeface="Calibri" pitchFamily="34" charset="0"/>
                <a:ea typeface="Calibri" pitchFamily="34" charset="-122"/>
                <a:cs typeface="Calibri" pitchFamily="34" charset="-120"/>
              </a:rPr>
              <a:t>ROADMAP</a:t>
            </a:r>
            <a:endParaRPr lang="en-US" sz="850" dirty="0"/>
          </a:p>
        </p:txBody>
      </p:sp>
      <p:sp>
        <p:nvSpPr>
          <p:cNvPr id="28" name="Shape 23"/>
          <p:cNvSpPr/>
          <p:nvPr/>
        </p:nvSpPr>
        <p:spPr>
          <a:xfrm>
            <a:off x="8823960" y="4956048"/>
            <a:ext cx="1627632" cy="713232"/>
          </a:xfrm>
          <a:prstGeom prst="roundRect">
            <a:avLst>
              <a:gd name="adj" fmla="val 10256"/>
            </a:avLst>
          </a:prstGeom>
          <a:solidFill>
            <a:srgbClr val="F1F5F9"/>
          </a:solidFill>
          <a:ln/>
        </p:spPr>
      </p:sp>
      <p:sp>
        <p:nvSpPr>
          <p:cNvPr id="29" name="Text 24"/>
          <p:cNvSpPr/>
          <p:nvPr/>
        </p:nvSpPr>
        <p:spPr>
          <a:xfrm>
            <a:off x="8823960" y="4956048"/>
            <a:ext cx="1627632" cy="420624"/>
          </a:xfrm>
          <a:prstGeom prst="rect">
            <a:avLst/>
          </a:prstGeom>
          <a:noFill/>
          <a:ln/>
        </p:spPr>
        <p:txBody>
          <a:bodyPr wrap="square" lIns="0" tIns="0" rIns="0" bIns="0" rtlCol="0" anchor="b"/>
          <a:lstStyle/>
          <a:p>
            <a:pPr algn="ctr" indent="0" marL="0">
              <a:buNone/>
            </a:pPr>
            <a:r>
              <a:rPr lang="en-US" sz="1200" dirty="0">
                <a:solidFill>
                  <a:srgbClr val="0F172A"/>
                </a:solidFill>
                <a:latin typeface="Calibri" pitchFamily="34" charset="0"/>
                <a:ea typeface="Calibri" pitchFamily="34" charset="-122"/>
                <a:cs typeface="Calibri" pitchFamily="34" charset="-120"/>
              </a:rPr>
              <a:t>SharePoint</a:t>
            </a:r>
            <a:endParaRPr lang="en-US" sz="1200" dirty="0"/>
          </a:p>
        </p:txBody>
      </p:sp>
      <p:sp>
        <p:nvSpPr>
          <p:cNvPr id="30" name="Text 25"/>
          <p:cNvSpPr/>
          <p:nvPr/>
        </p:nvSpPr>
        <p:spPr>
          <a:xfrm>
            <a:off x="8823960" y="5376672"/>
            <a:ext cx="1627632" cy="256032"/>
          </a:xfrm>
          <a:prstGeom prst="rect">
            <a:avLst/>
          </a:prstGeom>
          <a:noFill/>
          <a:ln/>
        </p:spPr>
        <p:txBody>
          <a:bodyPr wrap="square" lIns="0" tIns="0" rIns="0" bIns="0" rtlCol="0" anchor="ctr"/>
          <a:lstStyle/>
          <a:p>
            <a:pPr algn="ctr" indent="0" marL="0">
              <a:buNone/>
            </a:pPr>
            <a:r>
              <a:rPr lang="en-US" sz="850" b="1" spc="100" kern="0" dirty="0">
                <a:solidFill>
                  <a:srgbClr val="94A3B8"/>
                </a:solidFill>
                <a:latin typeface="Calibri" pitchFamily="34" charset="0"/>
                <a:ea typeface="Calibri" pitchFamily="34" charset="-122"/>
                <a:cs typeface="Calibri" pitchFamily="34" charset="-120"/>
              </a:rPr>
              <a:t>ROADMAP</a:t>
            </a:r>
            <a:endParaRPr lang="en-US" sz="850" dirty="0"/>
          </a:p>
        </p:txBody>
      </p:sp>
      <p:sp>
        <p:nvSpPr>
          <p:cNvPr id="31" name="Text 26"/>
          <p:cNvSpPr/>
          <p:nvPr/>
        </p:nvSpPr>
        <p:spPr>
          <a:xfrm>
            <a:off x="548640" y="6419088"/>
            <a:ext cx="9631375" cy="320040"/>
          </a:xfrm>
          <a:prstGeom prst="rect">
            <a:avLst/>
          </a:prstGeom>
          <a:noFill/>
          <a:ln/>
        </p:spPr>
        <p:txBody>
          <a:bodyPr wrap="square" lIns="0" tIns="0" rIns="0" bIns="0" rtlCol="0" anchor="ctr"/>
          <a:lstStyle/>
          <a:p>
            <a:pPr algn="l" indent="0" marL="0">
              <a:buNone/>
            </a:pPr>
            <a:r>
              <a:rPr lang="en-US" sz="900" dirty="0">
                <a:solidFill>
                  <a:srgbClr val="94A3B8"/>
                </a:solidFill>
                <a:latin typeface="Calibri" pitchFamily="34" charset="0"/>
                <a:ea typeface="Calibri" pitchFamily="34" charset="-122"/>
                <a:cs typeface="Calibri" pitchFamily="34" charset="-120"/>
              </a:rPr>
              <a:t>AOC Enterprise — Official Pitch Deck</a:t>
            </a:r>
            <a:endParaRPr lang="en-US" sz="900" dirty="0"/>
          </a:p>
        </p:txBody>
      </p:sp>
      <p:sp>
        <p:nvSpPr>
          <p:cNvPr id="32" name="Text 27"/>
          <p:cNvSpPr/>
          <p:nvPr/>
        </p:nvSpPr>
        <p:spPr>
          <a:xfrm>
            <a:off x="10362895" y="6419088"/>
            <a:ext cx="1280160" cy="320040"/>
          </a:xfrm>
          <a:prstGeom prst="rect">
            <a:avLst/>
          </a:prstGeom>
          <a:noFill/>
          <a:ln/>
        </p:spPr>
        <p:txBody>
          <a:bodyPr wrap="square" lIns="0" tIns="0" rIns="0" bIns="0" rtlCol="0" anchor="ctr"/>
          <a:lstStyle/>
          <a:p>
            <a:pPr algn="r" indent="0" marL="0">
              <a:buNone/>
            </a:pPr>
            <a:r>
              <a:rPr lang="en-US" sz="900" spc="100" kern="0" dirty="0">
                <a:solidFill>
                  <a:srgbClr val="94A3B8"/>
                </a:solidFill>
                <a:latin typeface="Calibri" pitchFamily="34" charset="0"/>
                <a:ea typeface="Calibri" pitchFamily="34" charset="-122"/>
                <a:cs typeface="Calibri" pitchFamily="34" charset="-120"/>
              </a:rPr>
              <a:t>SK005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11094415" cy="822960"/>
          </a:xfrm>
          <a:prstGeom prst="rect">
            <a:avLst/>
          </a:prstGeom>
          <a:noFill/>
          <a:ln/>
        </p:spPr>
        <p:txBody>
          <a:bodyPr wrap="square" lIns="0" tIns="0" rIns="0" bIns="0" rtlCol="0" anchor="ctr"/>
          <a:lstStyle/>
          <a:p>
            <a:pPr algn="l" indent="0" marL="0">
              <a:buNone/>
            </a:pPr>
            <a:r>
              <a:rPr lang="en-US" sz="3200" b="1" dirty="0">
                <a:solidFill>
                  <a:srgbClr val="0F172A"/>
                </a:solidFill>
                <a:latin typeface="Calibri" pitchFamily="34" charset="0"/>
                <a:ea typeface="Calibri" pitchFamily="34" charset="-122"/>
                <a:cs typeface="Calibri" pitchFamily="34" charset="-120"/>
              </a:rPr>
              <a:t>What changes when access is governed</a:t>
            </a:r>
            <a:endParaRPr lang="en-US" sz="3200" dirty="0"/>
          </a:p>
        </p:txBody>
      </p:sp>
      <p:sp>
        <p:nvSpPr>
          <p:cNvPr id="3" name="Text 1"/>
          <p:cNvSpPr/>
          <p:nvPr/>
        </p:nvSpPr>
        <p:spPr>
          <a:xfrm>
            <a:off x="548640" y="1298448"/>
            <a:ext cx="11094415" cy="502920"/>
          </a:xfrm>
          <a:prstGeom prst="rect">
            <a:avLst/>
          </a:prstGeom>
          <a:noFill/>
          <a:ln/>
        </p:spPr>
        <p:txBody>
          <a:bodyPr wrap="square" lIns="0" tIns="0" rIns="0" bIns="0" rtlCol="0" anchor="ctr"/>
          <a:lstStyle/>
          <a:p>
            <a:pPr algn="l" indent="0" marL="0">
              <a:buNone/>
            </a:pPr>
            <a:r>
              <a:rPr lang="en-US" sz="1450" dirty="0">
                <a:solidFill>
                  <a:srgbClr val="64748B"/>
                </a:solidFill>
                <a:latin typeface="Calibri" pitchFamily="34" charset="0"/>
                <a:ea typeface="Calibri" pitchFamily="34" charset="-122"/>
                <a:cs typeface="Calibri" pitchFamily="34" charset="-120"/>
              </a:rPr>
              <a:t>One model. Three audiences. The same evidence record answers all three.</a:t>
            </a:r>
            <a:endParaRPr lang="en-US" sz="1450" dirty="0"/>
          </a:p>
        </p:txBody>
      </p:sp>
      <p:sp>
        <p:nvSpPr>
          <p:cNvPr id="4" name="Shape 2"/>
          <p:cNvSpPr/>
          <p:nvPr/>
        </p:nvSpPr>
        <p:spPr>
          <a:xfrm>
            <a:off x="548640" y="2103120"/>
            <a:ext cx="3520440" cy="3794760"/>
          </a:xfrm>
          <a:prstGeom prst="roundRect">
            <a:avLst>
              <a:gd name="adj" fmla="val 3117"/>
            </a:avLst>
          </a:prstGeom>
          <a:solidFill>
            <a:srgbClr val="F8FAFC"/>
          </a:solidFill>
          <a:ln w="12700">
            <a:solidFill>
              <a:srgbClr val="E2E8F0"/>
            </a:solidFill>
            <a:prstDash val="solid"/>
          </a:ln>
          <a:effectLst>
            <a:outerShdw sx="100000" sy="100000" kx="0" ky="0" algn="bl" rotWithShape="0" blurRad="127000" dist="25400" dir="5400000">
              <a:srgbClr val="0F172A">
                <a:alpha val="10000"/>
              </a:srgbClr>
            </a:outerShdw>
          </a:effectLst>
        </p:spPr>
      </p:sp>
      <p:sp>
        <p:nvSpPr>
          <p:cNvPr id="5" name="Shape 3"/>
          <p:cNvSpPr/>
          <p:nvPr/>
        </p:nvSpPr>
        <p:spPr>
          <a:xfrm>
            <a:off x="891540" y="2418588"/>
            <a:ext cx="685800" cy="685800"/>
          </a:xfrm>
          <a:prstGeom prst="ellipse">
            <a:avLst/>
          </a:prstGeom>
          <a:solidFill>
            <a:srgbClr val="EEF2FF"/>
          </a:solidFill>
          <a:ln/>
        </p:spPr>
      </p:sp>
      <p:pic>
        <p:nvPicPr>
          <p:cNvPr id="6" name="Image 0" descr="preencoded.png">    </p:cNvPr>
          <p:cNvPicPr>
            <a:picLocks noChangeAspect="1"/>
          </p:cNvPicPr>
          <p:nvPr/>
        </p:nvPicPr>
        <p:blipFill>
          <a:blip r:embed="rId1"/>
          <a:stretch>
            <a:fillRect/>
          </a:stretch>
        </p:blipFill>
        <p:spPr>
          <a:xfrm>
            <a:off x="1069848" y="2596896"/>
            <a:ext cx="329184" cy="329184"/>
          </a:xfrm>
          <a:prstGeom prst="rect">
            <a:avLst/>
          </a:prstGeom>
        </p:spPr>
      </p:pic>
      <p:sp>
        <p:nvSpPr>
          <p:cNvPr id="7" name="Text 4"/>
          <p:cNvSpPr/>
          <p:nvPr/>
        </p:nvSpPr>
        <p:spPr>
          <a:xfrm>
            <a:off x="868680" y="3337560"/>
            <a:ext cx="2880360" cy="411480"/>
          </a:xfrm>
          <a:prstGeom prst="rect">
            <a:avLst/>
          </a:prstGeom>
          <a:noFill/>
          <a:ln/>
        </p:spPr>
        <p:txBody>
          <a:bodyPr wrap="square" lIns="0" tIns="0" rIns="0" bIns="0" rtlCol="0" anchor="ctr"/>
          <a:lstStyle/>
          <a:p>
            <a:pPr indent="0" marL="0">
              <a:buNone/>
            </a:pPr>
            <a:r>
              <a:rPr lang="en-US" sz="1800" b="1" dirty="0">
                <a:solidFill>
                  <a:srgbClr val="0F172A"/>
                </a:solidFill>
                <a:latin typeface="Calibri" pitchFamily="34" charset="0"/>
                <a:ea typeface="Calibri" pitchFamily="34" charset="-122"/>
                <a:cs typeface="Calibri" pitchFamily="34" charset="-120"/>
              </a:rPr>
              <a:t>Business</a:t>
            </a:r>
            <a:endParaRPr lang="en-US" sz="1800" dirty="0"/>
          </a:p>
        </p:txBody>
      </p:sp>
      <p:sp>
        <p:nvSpPr>
          <p:cNvPr id="8" name="Text 5"/>
          <p:cNvSpPr/>
          <p:nvPr/>
        </p:nvSpPr>
        <p:spPr>
          <a:xfrm>
            <a:off x="868680" y="3886200"/>
            <a:ext cx="2880360" cy="1737360"/>
          </a:xfrm>
          <a:prstGeom prst="rect">
            <a:avLst/>
          </a:prstGeom>
          <a:noFill/>
          <a:ln/>
        </p:spPr>
        <p:txBody>
          <a:bodyPr wrap="square" lIns="0" tIns="0" rIns="0" bIns="0" rtlCol="0" anchor="ctr"/>
          <a:lstStyle/>
          <a:p>
            <a:pPr marL="177800" indent="-177800">
              <a:lnSpc>
                <a:spcPct val="115000"/>
              </a:lnSpc>
              <a:spcAft>
                <a:spcPts val="1400"/>
              </a:spcAft>
              <a:buSzPct val="100000"/>
              <a:buChar char="•"/>
            </a:pPr>
            <a:r>
              <a:rPr lang="en-US" sz="1350" dirty="0">
                <a:solidFill>
                  <a:srgbClr val="64748B"/>
                </a:solidFill>
                <a:latin typeface="Calibri" pitchFamily="34" charset="0"/>
                <a:ea typeface="Calibri" pitchFamily="34" charset="-122"/>
                <a:cs typeface="Calibri" pitchFamily="34" charset="-120"/>
              </a:rPr>
              <a:t>Provable, revocable access</a:t>
            </a:r>
            <a:endParaRPr lang="en-US" sz="1350" dirty="0"/>
          </a:p>
          <a:p>
            <a:pPr marL="177800" indent="-177800">
              <a:lnSpc>
                <a:spcPct val="115000"/>
              </a:lnSpc>
              <a:spcAft>
                <a:spcPts val="1400"/>
              </a:spcAft>
              <a:buSzPct val="100000"/>
              <a:buChar char="•"/>
            </a:pPr>
            <a:r>
              <a:rPr lang="en-US" sz="1350" dirty="0">
                <a:solidFill>
                  <a:srgbClr val="64748B"/>
                </a:solidFill>
                <a:latin typeface="Calibri" pitchFamily="34" charset="0"/>
                <a:ea typeface="Calibri" pitchFamily="34" charset="-122"/>
                <a:cs typeface="Calibri" pitchFamily="34" charset="-120"/>
              </a:rPr>
              <a:t>Gaps surface before a grant — not after an incident</a:t>
            </a:r>
            <a:endParaRPr lang="en-US" sz="1350" dirty="0"/>
          </a:p>
        </p:txBody>
      </p:sp>
      <p:sp>
        <p:nvSpPr>
          <p:cNvPr id="9" name="Shape 6"/>
          <p:cNvSpPr/>
          <p:nvPr/>
        </p:nvSpPr>
        <p:spPr>
          <a:xfrm>
            <a:off x="4335628" y="2103120"/>
            <a:ext cx="3520440" cy="3794760"/>
          </a:xfrm>
          <a:prstGeom prst="roundRect">
            <a:avLst>
              <a:gd name="adj" fmla="val 3117"/>
            </a:avLst>
          </a:prstGeom>
          <a:solidFill>
            <a:srgbClr val="F8FAFC"/>
          </a:solidFill>
          <a:ln w="12700">
            <a:solidFill>
              <a:srgbClr val="E2E8F0"/>
            </a:solidFill>
            <a:prstDash val="solid"/>
          </a:ln>
          <a:effectLst>
            <a:outerShdw sx="100000" sy="100000" kx="0" ky="0" algn="bl" rotWithShape="0" blurRad="127000" dist="25400" dir="5400000">
              <a:srgbClr val="0F172A">
                <a:alpha val="10000"/>
              </a:srgbClr>
            </a:outerShdw>
          </a:effectLst>
        </p:spPr>
      </p:sp>
      <p:sp>
        <p:nvSpPr>
          <p:cNvPr id="10" name="Shape 7"/>
          <p:cNvSpPr/>
          <p:nvPr/>
        </p:nvSpPr>
        <p:spPr>
          <a:xfrm>
            <a:off x="4678528" y="2418588"/>
            <a:ext cx="685800" cy="685800"/>
          </a:xfrm>
          <a:prstGeom prst="ellipse">
            <a:avLst/>
          </a:prstGeom>
          <a:solidFill>
            <a:srgbClr val="EEF2FF"/>
          </a:solidFill>
          <a:ln/>
        </p:spPr>
      </p:sp>
      <p:pic>
        <p:nvPicPr>
          <p:cNvPr id="11" name="Image 1" descr="preencoded.png">    </p:cNvPr>
          <p:cNvPicPr>
            <a:picLocks noChangeAspect="1"/>
          </p:cNvPicPr>
          <p:nvPr/>
        </p:nvPicPr>
        <p:blipFill>
          <a:blip r:embed="rId2"/>
          <a:stretch>
            <a:fillRect/>
          </a:stretch>
        </p:blipFill>
        <p:spPr>
          <a:xfrm>
            <a:off x="4856836" y="2596896"/>
            <a:ext cx="329184" cy="329184"/>
          </a:xfrm>
          <a:prstGeom prst="rect">
            <a:avLst/>
          </a:prstGeom>
        </p:spPr>
      </p:pic>
      <p:sp>
        <p:nvSpPr>
          <p:cNvPr id="12" name="Text 8"/>
          <p:cNvSpPr/>
          <p:nvPr/>
        </p:nvSpPr>
        <p:spPr>
          <a:xfrm>
            <a:off x="4655668" y="3337560"/>
            <a:ext cx="2880360" cy="411480"/>
          </a:xfrm>
          <a:prstGeom prst="rect">
            <a:avLst/>
          </a:prstGeom>
          <a:noFill/>
          <a:ln/>
        </p:spPr>
        <p:txBody>
          <a:bodyPr wrap="square" lIns="0" tIns="0" rIns="0" bIns="0" rtlCol="0" anchor="ctr"/>
          <a:lstStyle/>
          <a:p>
            <a:pPr indent="0" marL="0">
              <a:buNone/>
            </a:pPr>
            <a:r>
              <a:rPr lang="en-US" sz="1800" b="1" dirty="0">
                <a:solidFill>
                  <a:srgbClr val="0F172A"/>
                </a:solidFill>
                <a:latin typeface="Calibri" pitchFamily="34" charset="0"/>
                <a:ea typeface="Calibri" pitchFamily="34" charset="-122"/>
                <a:cs typeface="Calibri" pitchFamily="34" charset="-120"/>
              </a:rPr>
              <a:t>Engineering</a:t>
            </a:r>
            <a:endParaRPr lang="en-US" sz="1800" dirty="0"/>
          </a:p>
        </p:txBody>
      </p:sp>
      <p:sp>
        <p:nvSpPr>
          <p:cNvPr id="13" name="Text 9"/>
          <p:cNvSpPr/>
          <p:nvPr/>
        </p:nvSpPr>
        <p:spPr>
          <a:xfrm>
            <a:off x="4655668" y="3886200"/>
            <a:ext cx="2880360" cy="1737360"/>
          </a:xfrm>
          <a:prstGeom prst="rect">
            <a:avLst/>
          </a:prstGeom>
          <a:noFill/>
          <a:ln/>
        </p:spPr>
        <p:txBody>
          <a:bodyPr wrap="square" lIns="0" tIns="0" rIns="0" bIns="0" rtlCol="0" anchor="ctr"/>
          <a:lstStyle/>
          <a:p>
            <a:pPr marL="177800" indent="-177800">
              <a:lnSpc>
                <a:spcPct val="115000"/>
              </a:lnSpc>
              <a:spcAft>
                <a:spcPts val="1400"/>
              </a:spcAft>
              <a:buSzPct val="100000"/>
              <a:buChar char="•"/>
            </a:pPr>
            <a:r>
              <a:rPr lang="en-US" sz="1350" dirty="0">
                <a:solidFill>
                  <a:srgbClr val="64748B"/>
                </a:solidFill>
                <a:latin typeface="Calibri" pitchFamily="34" charset="0"/>
                <a:ea typeface="Calibri" pitchFamily="34" charset="-122"/>
                <a:cs typeface="Calibri" pitchFamily="34" charset="-120"/>
              </a:rPr>
              <a:t>One contract, not per-provider glue</a:t>
            </a:r>
            <a:endParaRPr lang="en-US" sz="1350" dirty="0"/>
          </a:p>
          <a:p>
            <a:pPr marL="177800" indent="-177800">
              <a:lnSpc>
                <a:spcPct val="115000"/>
              </a:lnSpc>
              <a:spcAft>
                <a:spcPts val="1400"/>
              </a:spcAft>
              <a:buSzPct val="100000"/>
              <a:buChar char="•"/>
            </a:pPr>
            <a:r>
              <a:rPr lang="en-US" sz="1350" dirty="0">
                <a:solidFill>
                  <a:srgbClr val="64748B"/>
                </a:solidFill>
                <a:latin typeface="Calibri" pitchFamily="34" charset="0"/>
                <a:ea typeface="Calibri" pitchFamily="34" charset="-122"/>
                <a:cs typeface="Calibri" pitchFamily="34" charset="-120"/>
              </a:rPr>
              <a:t>A new provider is an adapter, not a rewrite</a:t>
            </a:r>
            <a:endParaRPr lang="en-US" sz="1350" dirty="0"/>
          </a:p>
        </p:txBody>
      </p:sp>
      <p:sp>
        <p:nvSpPr>
          <p:cNvPr id="14" name="Shape 10"/>
          <p:cNvSpPr/>
          <p:nvPr/>
        </p:nvSpPr>
        <p:spPr>
          <a:xfrm>
            <a:off x="8122615" y="2103120"/>
            <a:ext cx="3520440" cy="3794760"/>
          </a:xfrm>
          <a:prstGeom prst="roundRect">
            <a:avLst>
              <a:gd name="adj" fmla="val 3117"/>
            </a:avLst>
          </a:prstGeom>
          <a:solidFill>
            <a:srgbClr val="F8FAFC"/>
          </a:solidFill>
          <a:ln w="12700">
            <a:solidFill>
              <a:srgbClr val="E2E8F0"/>
            </a:solidFill>
            <a:prstDash val="solid"/>
          </a:ln>
          <a:effectLst>
            <a:outerShdw sx="100000" sy="100000" kx="0" ky="0" algn="bl" rotWithShape="0" blurRad="127000" dist="25400" dir="5400000">
              <a:srgbClr val="0F172A">
                <a:alpha val="10000"/>
              </a:srgbClr>
            </a:outerShdw>
          </a:effectLst>
        </p:spPr>
      </p:sp>
      <p:sp>
        <p:nvSpPr>
          <p:cNvPr id="15" name="Shape 11"/>
          <p:cNvSpPr/>
          <p:nvPr/>
        </p:nvSpPr>
        <p:spPr>
          <a:xfrm>
            <a:off x="8465515" y="2418588"/>
            <a:ext cx="685800" cy="685800"/>
          </a:xfrm>
          <a:prstGeom prst="ellipse">
            <a:avLst/>
          </a:prstGeom>
          <a:solidFill>
            <a:srgbClr val="EEF2FF"/>
          </a:solidFill>
          <a:ln/>
        </p:spPr>
      </p:sp>
      <p:pic>
        <p:nvPicPr>
          <p:cNvPr id="16" name="Image 2" descr="preencoded.png">    </p:cNvPr>
          <p:cNvPicPr>
            <a:picLocks noChangeAspect="1"/>
          </p:cNvPicPr>
          <p:nvPr/>
        </p:nvPicPr>
        <p:blipFill>
          <a:blip r:embed="rId3"/>
          <a:stretch>
            <a:fillRect/>
          </a:stretch>
        </p:blipFill>
        <p:spPr>
          <a:xfrm>
            <a:off x="8643823" y="2596896"/>
            <a:ext cx="329184" cy="329184"/>
          </a:xfrm>
          <a:prstGeom prst="rect">
            <a:avLst/>
          </a:prstGeom>
        </p:spPr>
      </p:pic>
      <p:sp>
        <p:nvSpPr>
          <p:cNvPr id="17" name="Text 12"/>
          <p:cNvSpPr/>
          <p:nvPr/>
        </p:nvSpPr>
        <p:spPr>
          <a:xfrm>
            <a:off x="8442655" y="3337560"/>
            <a:ext cx="2880360" cy="411480"/>
          </a:xfrm>
          <a:prstGeom prst="rect">
            <a:avLst/>
          </a:prstGeom>
          <a:noFill/>
          <a:ln/>
        </p:spPr>
        <p:txBody>
          <a:bodyPr wrap="square" lIns="0" tIns="0" rIns="0" bIns="0" rtlCol="0" anchor="ctr"/>
          <a:lstStyle/>
          <a:p>
            <a:pPr indent="0" marL="0">
              <a:buNone/>
            </a:pPr>
            <a:r>
              <a:rPr lang="en-US" sz="1800" b="1" dirty="0">
                <a:solidFill>
                  <a:srgbClr val="0F172A"/>
                </a:solidFill>
                <a:latin typeface="Calibri" pitchFamily="34" charset="0"/>
                <a:ea typeface="Calibri" pitchFamily="34" charset="-122"/>
                <a:cs typeface="Calibri" pitchFamily="34" charset="-120"/>
              </a:rPr>
              <a:t>Commercial</a:t>
            </a:r>
            <a:endParaRPr lang="en-US" sz="1800" dirty="0"/>
          </a:p>
        </p:txBody>
      </p:sp>
      <p:sp>
        <p:nvSpPr>
          <p:cNvPr id="18" name="Text 13"/>
          <p:cNvSpPr/>
          <p:nvPr/>
        </p:nvSpPr>
        <p:spPr>
          <a:xfrm>
            <a:off x="8442655" y="3886200"/>
            <a:ext cx="2880360" cy="1737360"/>
          </a:xfrm>
          <a:prstGeom prst="rect">
            <a:avLst/>
          </a:prstGeom>
          <a:noFill/>
          <a:ln/>
        </p:spPr>
        <p:txBody>
          <a:bodyPr wrap="square" lIns="0" tIns="0" rIns="0" bIns="0" rtlCol="0" anchor="ctr"/>
          <a:lstStyle/>
          <a:p>
            <a:pPr marL="177800" indent="-177800">
              <a:lnSpc>
                <a:spcPct val="115000"/>
              </a:lnSpc>
              <a:spcAft>
                <a:spcPts val="1400"/>
              </a:spcAft>
              <a:buSzPct val="100000"/>
              <a:buChar char="•"/>
            </a:pPr>
            <a:r>
              <a:rPr lang="en-US" sz="1350" dirty="0">
                <a:solidFill>
                  <a:srgbClr val="64748B"/>
                </a:solidFill>
                <a:latin typeface="Calibri" pitchFamily="34" charset="0"/>
                <a:ea typeface="Calibri" pitchFamily="34" charset="-122"/>
                <a:cs typeface="Calibri" pitchFamily="34" charset="-120"/>
              </a:rPr>
              <a:t>Evidence, not just logs, for security review</a:t>
            </a:r>
            <a:endParaRPr lang="en-US" sz="1350" dirty="0"/>
          </a:p>
          <a:p>
            <a:pPr marL="177800" indent="-177800">
              <a:lnSpc>
                <a:spcPct val="115000"/>
              </a:lnSpc>
              <a:spcAft>
                <a:spcPts val="1400"/>
              </a:spcAft>
              <a:buSzPct val="100000"/>
              <a:buChar char="•"/>
            </a:pPr>
            <a:r>
              <a:rPr lang="en-US" sz="1350" dirty="0">
                <a:solidFill>
                  <a:srgbClr val="64748B"/>
                </a:solidFill>
                <a:latin typeface="Calibri" pitchFamily="34" charset="0"/>
                <a:ea typeface="Calibri" pitchFamily="34" charset="-122"/>
                <a:cs typeface="Calibri" pitchFamily="34" charset="-120"/>
              </a:rPr>
              <a:t>A faster path through enterprise deal cycles</a:t>
            </a:r>
            <a:endParaRPr lang="en-US" sz="1350" dirty="0"/>
          </a:p>
        </p:txBody>
      </p:sp>
      <p:sp>
        <p:nvSpPr>
          <p:cNvPr id="19" name="Text 14"/>
          <p:cNvSpPr/>
          <p:nvPr/>
        </p:nvSpPr>
        <p:spPr>
          <a:xfrm>
            <a:off x="548640" y="6419088"/>
            <a:ext cx="9631375" cy="320040"/>
          </a:xfrm>
          <a:prstGeom prst="rect">
            <a:avLst/>
          </a:prstGeom>
          <a:noFill/>
          <a:ln/>
        </p:spPr>
        <p:txBody>
          <a:bodyPr wrap="square" lIns="0" tIns="0" rIns="0" bIns="0" rtlCol="0" anchor="ctr"/>
          <a:lstStyle/>
          <a:p>
            <a:pPr algn="l" indent="0" marL="0">
              <a:buNone/>
            </a:pPr>
            <a:r>
              <a:rPr lang="en-US" sz="900" dirty="0">
                <a:solidFill>
                  <a:srgbClr val="94A3B8"/>
                </a:solidFill>
                <a:latin typeface="Calibri" pitchFamily="34" charset="0"/>
                <a:ea typeface="Calibri" pitchFamily="34" charset="-122"/>
                <a:cs typeface="Calibri" pitchFamily="34" charset="-120"/>
              </a:rPr>
              <a:t>AOC Enterprise — Official Pitch Deck</a:t>
            </a:r>
            <a:endParaRPr lang="en-US" sz="900" dirty="0"/>
          </a:p>
        </p:txBody>
      </p:sp>
      <p:sp>
        <p:nvSpPr>
          <p:cNvPr id="20" name="Text 15"/>
          <p:cNvSpPr/>
          <p:nvPr/>
        </p:nvSpPr>
        <p:spPr>
          <a:xfrm>
            <a:off x="10362895" y="6419088"/>
            <a:ext cx="1280160" cy="320040"/>
          </a:xfrm>
          <a:prstGeom prst="rect">
            <a:avLst/>
          </a:prstGeom>
          <a:noFill/>
          <a:ln/>
        </p:spPr>
        <p:txBody>
          <a:bodyPr wrap="square" lIns="0" tIns="0" rIns="0" bIns="0" rtlCol="0" anchor="ctr"/>
          <a:lstStyle/>
          <a:p>
            <a:pPr algn="r" indent="0" marL="0">
              <a:buNone/>
            </a:pPr>
            <a:r>
              <a:rPr lang="en-US" sz="900" spc="100" kern="0" dirty="0">
                <a:solidFill>
                  <a:srgbClr val="94A3B8"/>
                </a:solidFill>
                <a:latin typeface="Calibri" pitchFamily="34" charset="0"/>
                <a:ea typeface="Calibri" pitchFamily="34" charset="-122"/>
                <a:cs typeface="Calibri" pitchFamily="34" charset="-120"/>
              </a:rPr>
              <a:t>SK005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11094415" cy="822960"/>
          </a:xfrm>
          <a:prstGeom prst="rect">
            <a:avLst/>
          </a:prstGeom>
          <a:noFill/>
          <a:ln/>
        </p:spPr>
        <p:txBody>
          <a:bodyPr wrap="square" lIns="0" tIns="0" rIns="0" bIns="0" rtlCol="0" anchor="ctr"/>
          <a:lstStyle/>
          <a:p>
            <a:pPr algn="l" indent="0" marL="0">
              <a:buNone/>
            </a:pPr>
            <a:r>
              <a:rPr lang="en-US" sz="2700" b="1" dirty="0">
                <a:solidFill>
                  <a:srgbClr val="0F172A"/>
                </a:solidFill>
                <a:latin typeface="Calibri" pitchFamily="34" charset="0"/>
                <a:ea typeface="Calibri" pitchFamily="34" charset="-122"/>
                <a:cs typeface="Calibri" pitchFamily="34" charset="-120"/>
              </a:rPr>
              <a:t>Assurance: prove your governance posture, continuously</a:t>
            </a:r>
            <a:endParaRPr lang="en-US" sz="2700" dirty="0"/>
          </a:p>
        </p:txBody>
      </p:sp>
      <p:sp>
        <p:nvSpPr>
          <p:cNvPr id="3" name="Text 1"/>
          <p:cNvSpPr/>
          <p:nvPr/>
        </p:nvSpPr>
        <p:spPr>
          <a:xfrm>
            <a:off x="548640" y="1298448"/>
            <a:ext cx="11094415" cy="502920"/>
          </a:xfrm>
          <a:prstGeom prst="rect">
            <a:avLst/>
          </a:prstGeom>
          <a:noFill/>
          <a:ln/>
        </p:spPr>
        <p:txBody>
          <a:bodyPr wrap="square" lIns="0" tIns="0" rIns="0" bIns="0" rtlCol="0" anchor="ctr"/>
          <a:lstStyle/>
          <a:p>
            <a:pPr algn="l" indent="0" marL="0">
              <a:buNone/>
            </a:pPr>
            <a:r>
              <a:rPr lang="en-US" sz="1450" dirty="0">
                <a:solidFill>
                  <a:srgbClr val="64748B"/>
                </a:solidFill>
                <a:latin typeface="Calibri" pitchFamily="34" charset="0"/>
                <a:ea typeface="Calibri" pitchFamily="34" charset="-122"/>
                <a:cs typeface="Calibri" pitchFamily="34" charset="-120"/>
              </a:rPr>
              <a:t>The engagement model we run with you — and the evidence engine underneath it.</a:t>
            </a:r>
            <a:endParaRPr lang="en-US" sz="1450" dirty="0"/>
          </a:p>
        </p:txBody>
      </p:sp>
      <p:sp>
        <p:nvSpPr>
          <p:cNvPr id="4" name="Shape 2"/>
          <p:cNvSpPr/>
          <p:nvPr/>
        </p:nvSpPr>
        <p:spPr>
          <a:xfrm>
            <a:off x="1429482" y="2148840"/>
            <a:ext cx="457200" cy="457200"/>
          </a:xfrm>
          <a:prstGeom prst="ellipse">
            <a:avLst/>
          </a:prstGeom>
          <a:solidFill>
            <a:srgbClr val="4F46E5"/>
          </a:solidFill>
          <a:ln/>
        </p:spPr>
      </p:sp>
      <p:sp>
        <p:nvSpPr>
          <p:cNvPr id="5" name="Text 3"/>
          <p:cNvSpPr/>
          <p:nvPr/>
        </p:nvSpPr>
        <p:spPr>
          <a:xfrm>
            <a:off x="1429482" y="214884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Shape 4"/>
          <p:cNvSpPr/>
          <p:nvPr/>
        </p:nvSpPr>
        <p:spPr>
          <a:xfrm>
            <a:off x="1941546" y="2377440"/>
            <a:ext cx="1651955" cy="0"/>
          </a:xfrm>
          <a:prstGeom prst="line">
            <a:avLst/>
          </a:prstGeom>
          <a:noFill/>
          <a:ln w="19050">
            <a:solidFill>
              <a:srgbClr val="E2E8F0"/>
            </a:solidFill>
            <a:prstDash val="solid"/>
          </a:ln>
        </p:spPr>
      </p:sp>
      <p:sp>
        <p:nvSpPr>
          <p:cNvPr id="7" name="Text 5"/>
          <p:cNvSpPr/>
          <p:nvPr/>
        </p:nvSpPr>
        <p:spPr>
          <a:xfrm>
            <a:off x="594360" y="2715768"/>
            <a:ext cx="2127443" cy="457200"/>
          </a:xfrm>
          <a:prstGeom prst="rect">
            <a:avLst/>
          </a:prstGeom>
          <a:noFill/>
          <a:ln/>
        </p:spPr>
        <p:txBody>
          <a:bodyPr wrap="square" lIns="0" tIns="0" rIns="0" bIns="0" rtlCol="0" anchor="ctr"/>
          <a:lstStyle/>
          <a:p>
            <a:pPr algn="ctr" indent="0" marL="0">
              <a:buNone/>
            </a:pPr>
            <a:r>
              <a:rPr lang="en-US" sz="1150" b="1" dirty="0">
                <a:solidFill>
                  <a:srgbClr val="0F172A"/>
                </a:solidFill>
                <a:latin typeface="Calibri" pitchFamily="34" charset="0"/>
                <a:ea typeface="Calibri" pitchFamily="34" charset="-122"/>
                <a:cs typeface="Calibri" pitchFamily="34" charset="-120"/>
              </a:rPr>
              <a:t>Assessment</a:t>
            </a:r>
            <a:endParaRPr lang="en-US" sz="1150" dirty="0"/>
          </a:p>
        </p:txBody>
      </p:sp>
      <p:sp>
        <p:nvSpPr>
          <p:cNvPr id="8" name="Shape 6"/>
          <p:cNvSpPr/>
          <p:nvPr/>
        </p:nvSpPr>
        <p:spPr>
          <a:xfrm>
            <a:off x="3648365" y="2148840"/>
            <a:ext cx="457200" cy="457200"/>
          </a:xfrm>
          <a:prstGeom prst="ellipse">
            <a:avLst/>
          </a:prstGeom>
          <a:solidFill>
            <a:srgbClr val="EEF2FF"/>
          </a:solidFill>
          <a:ln/>
        </p:spPr>
      </p:sp>
      <p:sp>
        <p:nvSpPr>
          <p:cNvPr id="9" name="Text 7"/>
          <p:cNvSpPr/>
          <p:nvPr/>
        </p:nvSpPr>
        <p:spPr>
          <a:xfrm>
            <a:off x="3648365" y="2148840"/>
            <a:ext cx="457200" cy="457200"/>
          </a:xfrm>
          <a:prstGeom prst="rect">
            <a:avLst/>
          </a:prstGeom>
          <a:noFill/>
          <a:ln/>
        </p:spPr>
        <p:txBody>
          <a:bodyPr wrap="square" lIns="0" tIns="0" rIns="0" bIns="0" rtlCol="0" anchor="ctr"/>
          <a:lstStyle/>
          <a:p>
            <a:pPr algn="ctr" indent="0" marL="0">
              <a:buNone/>
            </a:pPr>
            <a:r>
              <a:rPr lang="en-US" sz="1300" b="1" dirty="0">
                <a:solidFill>
                  <a:srgbClr val="4F46E5"/>
                </a:solidFill>
                <a:latin typeface="Calibri" pitchFamily="34" charset="0"/>
                <a:ea typeface="Calibri" pitchFamily="34" charset="-122"/>
                <a:cs typeface="Calibri" pitchFamily="34" charset="-120"/>
              </a:rPr>
              <a:t>2</a:t>
            </a:r>
            <a:endParaRPr lang="en-US" sz="1300" dirty="0"/>
          </a:p>
        </p:txBody>
      </p:sp>
      <p:sp>
        <p:nvSpPr>
          <p:cNvPr id="10" name="Shape 8"/>
          <p:cNvSpPr/>
          <p:nvPr/>
        </p:nvSpPr>
        <p:spPr>
          <a:xfrm>
            <a:off x="4160429" y="2377440"/>
            <a:ext cx="1651955" cy="0"/>
          </a:xfrm>
          <a:prstGeom prst="line">
            <a:avLst/>
          </a:prstGeom>
          <a:noFill/>
          <a:ln w="19050">
            <a:solidFill>
              <a:srgbClr val="E2E8F0"/>
            </a:solidFill>
            <a:prstDash val="solid"/>
          </a:ln>
        </p:spPr>
      </p:sp>
      <p:sp>
        <p:nvSpPr>
          <p:cNvPr id="11" name="Text 9"/>
          <p:cNvSpPr/>
          <p:nvPr/>
        </p:nvSpPr>
        <p:spPr>
          <a:xfrm>
            <a:off x="2813243" y="2715768"/>
            <a:ext cx="2127443" cy="457200"/>
          </a:xfrm>
          <a:prstGeom prst="rect">
            <a:avLst/>
          </a:prstGeom>
          <a:noFill/>
          <a:ln/>
        </p:spPr>
        <p:txBody>
          <a:bodyPr wrap="square" lIns="0" tIns="0" rIns="0" bIns="0" rtlCol="0" anchor="ctr"/>
          <a:lstStyle/>
          <a:p>
            <a:pPr algn="ctr" indent="0" marL="0">
              <a:buNone/>
            </a:pPr>
            <a:r>
              <a:rPr lang="en-US" sz="1150" dirty="0">
                <a:solidFill>
                  <a:srgbClr val="0F172A"/>
                </a:solidFill>
                <a:latin typeface="Calibri" pitchFamily="34" charset="0"/>
                <a:ea typeface="Calibri" pitchFamily="34" charset="-122"/>
                <a:cs typeface="Calibri" pitchFamily="34" charset="-120"/>
              </a:rPr>
              <a:t>Recommendations</a:t>
            </a:r>
            <a:endParaRPr lang="en-US" sz="1150" dirty="0"/>
          </a:p>
        </p:txBody>
      </p:sp>
      <p:sp>
        <p:nvSpPr>
          <p:cNvPr id="12" name="Shape 10"/>
          <p:cNvSpPr/>
          <p:nvPr/>
        </p:nvSpPr>
        <p:spPr>
          <a:xfrm>
            <a:off x="5867248" y="2148840"/>
            <a:ext cx="457200" cy="457200"/>
          </a:xfrm>
          <a:prstGeom prst="ellipse">
            <a:avLst/>
          </a:prstGeom>
          <a:solidFill>
            <a:srgbClr val="EEF2FF"/>
          </a:solidFill>
          <a:ln/>
        </p:spPr>
      </p:sp>
      <p:sp>
        <p:nvSpPr>
          <p:cNvPr id="13" name="Text 11"/>
          <p:cNvSpPr/>
          <p:nvPr/>
        </p:nvSpPr>
        <p:spPr>
          <a:xfrm>
            <a:off x="5867248" y="2148840"/>
            <a:ext cx="457200" cy="457200"/>
          </a:xfrm>
          <a:prstGeom prst="rect">
            <a:avLst/>
          </a:prstGeom>
          <a:noFill/>
          <a:ln/>
        </p:spPr>
        <p:txBody>
          <a:bodyPr wrap="square" lIns="0" tIns="0" rIns="0" bIns="0" rtlCol="0" anchor="ctr"/>
          <a:lstStyle/>
          <a:p>
            <a:pPr algn="ctr" indent="0" marL="0">
              <a:buNone/>
            </a:pPr>
            <a:r>
              <a:rPr lang="en-US" sz="1300" b="1" dirty="0">
                <a:solidFill>
                  <a:srgbClr val="4F46E5"/>
                </a:solidFill>
                <a:latin typeface="Calibri" pitchFamily="34" charset="0"/>
                <a:ea typeface="Calibri" pitchFamily="34" charset="-122"/>
                <a:cs typeface="Calibri" pitchFamily="34" charset="-120"/>
              </a:rPr>
              <a:t>3</a:t>
            </a:r>
            <a:endParaRPr lang="en-US" sz="1300" dirty="0"/>
          </a:p>
        </p:txBody>
      </p:sp>
      <p:sp>
        <p:nvSpPr>
          <p:cNvPr id="14" name="Shape 12"/>
          <p:cNvSpPr/>
          <p:nvPr/>
        </p:nvSpPr>
        <p:spPr>
          <a:xfrm>
            <a:off x="6379312" y="2377440"/>
            <a:ext cx="1651955" cy="0"/>
          </a:xfrm>
          <a:prstGeom prst="line">
            <a:avLst/>
          </a:prstGeom>
          <a:noFill/>
          <a:ln w="19050">
            <a:solidFill>
              <a:srgbClr val="E2E8F0"/>
            </a:solidFill>
            <a:prstDash val="solid"/>
          </a:ln>
        </p:spPr>
      </p:sp>
      <p:sp>
        <p:nvSpPr>
          <p:cNvPr id="15" name="Text 13"/>
          <p:cNvSpPr/>
          <p:nvPr/>
        </p:nvSpPr>
        <p:spPr>
          <a:xfrm>
            <a:off x="5032126" y="2715768"/>
            <a:ext cx="2127443" cy="457200"/>
          </a:xfrm>
          <a:prstGeom prst="rect">
            <a:avLst/>
          </a:prstGeom>
          <a:noFill/>
          <a:ln/>
        </p:spPr>
        <p:txBody>
          <a:bodyPr wrap="square" lIns="0" tIns="0" rIns="0" bIns="0" rtlCol="0" anchor="ctr"/>
          <a:lstStyle/>
          <a:p>
            <a:pPr algn="ctr" indent="0" marL="0">
              <a:buNone/>
            </a:pPr>
            <a:r>
              <a:rPr lang="en-US" sz="1150" dirty="0">
                <a:solidFill>
                  <a:srgbClr val="0F172A"/>
                </a:solidFill>
                <a:latin typeface="Calibri" pitchFamily="34" charset="0"/>
                <a:ea typeface="Calibri" pitchFamily="34" charset="-122"/>
                <a:cs typeface="Calibri" pitchFamily="34" charset="-120"/>
              </a:rPr>
              <a:t>Implementation</a:t>
            </a:r>
            <a:endParaRPr lang="en-US" sz="1150" dirty="0"/>
          </a:p>
        </p:txBody>
      </p:sp>
      <p:sp>
        <p:nvSpPr>
          <p:cNvPr id="16" name="Shape 14"/>
          <p:cNvSpPr/>
          <p:nvPr/>
        </p:nvSpPr>
        <p:spPr>
          <a:xfrm>
            <a:off x="8086131" y="2148840"/>
            <a:ext cx="457200" cy="457200"/>
          </a:xfrm>
          <a:prstGeom prst="ellipse">
            <a:avLst/>
          </a:prstGeom>
          <a:solidFill>
            <a:srgbClr val="EEF2FF"/>
          </a:solidFill>
          <a:ln/>
        </p:spPr>
      </p:sp>
      <p:sp>
        <p:nvSpPr>
          <p:cNvPr id="17" name="Text 15"/>
          <p:cNvSpPr/>
          <p:nvPr/>
        </p:nvSpPr>
        <p:spPr>
          <a:xfrm>
            <a:off x="8086131" y="2148840"/>
            <a:ext cx="457200" cy="457200"/>
          </a:xfrm>
          <a:prstGeom prst="rect">
            <a:avLst/>
          </a:prstGeom>
          <a:noFill/>
          <a:ln/>
        </p:spPr>
        <p:txBody>
          <a:bodyPr wrap="square" lIns="0" tIns="0" rIns="0" bIns="0" rtlCol="0" anchor="ctr"/>
          <a:lstStyle/>
          <a:p>
            <a:pPr algn="ctr" indent="0" marL="0">
              <a:buNone/>
            </a:pPr>
            <a:r>
              <a:rPr lang="en-US" sz="1300" b="1" dirty="0">
                <a:solidFill>
                  <a:srgbClr val="4F46E5"/>
                </a:solidFill>
                <a:latin typeface="Calibri" pitchFamily="34" charset="0"/>
                <a:ea typeface="Calibri" pitchFamily="34" charset="-122"/>
                <a:cs typeface="Calibri" pitchFamily="34" charset="-120"/>
              </a:rPr>
              <a:t>4</a:t>
            </a:r>
            <a:endParaRPr lang="en-US" sz="1300" dirty="0"/>
          </a:p>
        </p:txBody>
      </p:sp>
      <p:sp>
        <p:nvSpPr>
          <p:cNvPr id="18" name="Shape 16"/>
          <p:cNvSpPr/>
          <p:nvPr/>
        </p:nvSpPr>
        <p:spPr>
          <a:xfrm>
            <a:off x="8598195" y="2377440"/>
            <a:ext cx="1651955" cy="0"/>
          </a:xfrm>
          <a:prstGeom prst="line">
            <a:avLst/>
          </a:prstGeom>
          <a:noFill/>
          <a:ln w="19050">
            <a:solidFill>
              <a:srgbClr val="E2E8F0"/>
            </a:solidFill>
            <a:prstDash val="solid"/>
          </a:ln>
        </p:spPr>
      </p:sp>
      <p:sp>
        <p:nvSpPr>
          <p:cNvPr id="19" name="Text 17"/>
          <p:cNvSpPr/>
          <p:nvPr/>
        </p:nvSpPr>
        <p:spPr>
          <a:xfrm>
            <a:off x="7251009" y="2715768"/>
            <a:ext cx="2127443" cy="457200"/>
          </a:xfrm>
          <a:prstGeom prst="rect">
            <a:avLst/>
          </a:prstGeom>
          <a:noFill/>
          <a:ln/>
        </p:spPr>
        <p:txBody>
          <a:bodyPr wrap="square" lIns="0" tIns="0" rIns="0" bIns="0" rtlCol="0" anchor="ctr"/>
          <a:lstStyle/>
          <a:p>
            <a:pPr algn="ctr" indent="0" marL="0">
              <a:buNone/>
            </a:pPr>
            <a:r>
              <a:rPr lang="en-US" sz="1150" dirty="0">
                <a:solidFill>
                  <a:srgbClr val="0F172A"/>
                </a:solidFill>
                <a:latin typeface="Calibri" pitchFamily="34" charset="0"/>
                <a:ea typeface="Calibri" pitchFamily="34" charset="-122"/>
                <a:cs typeface="Calibri" pitchFamily="34" charset="-120"/>
              </a:rPr>
              <a:t>Validation</a:t>
            </a:r>
            <a:endParaRPr lang="en-US" sz="1150" dirty="0"/>
          </a:p>
        </p:txBody>
      </p:sp>
      <p:sp>
        <p:nvSpPr>
          <p:cNvPr id="20" name="Shape 18"/>
          <p:cNvSpPr/>
          <p:nvPr/>
        </p:nvSpPr>
        <p:spPr>
          <a:xfrm>
            <a:off x="10305014" y="2148840"/>
            <a:ext cx="457200" cy="457200"/>
          </a:xfrm>
          <a:prstGeom prst="ellipse">
            <a:avLst/>
          </a:prstGeom>
          <a:solidFill>
            <a:srgbClr val="EEF2FF"/>
          </a:solidFill>
          <a:ln/>
        </p:spPr>
      </p:sp>
      <p:sp>
        <p:nvSpPr>
          <p:cNvPr id="21" name="Text 19"/>
          <p:cNvSpPr/>
          <p:nvPr/>
        </p:nvSpPr>
        <p:spPr>
          <a:xfrm>
            <a:off x="10305014" y="2148840"/>
            <a:ext cx="457200" cy="457200"/>
          </a:xfrm>
          <a:prstGeom prst="rect">
            <a:avLst/>
          </a:prstGeom>
          <a:noFill/>
          <a:ln/>
        </p:spPr>
        <p:txBody>
          <a:bodyPr wrap="square" lIns="0" tIns="0" rIns="0" bIns="0" rtlCol="0" anchor="ctr"/>
          <a:lstStyle/>
          <a:p>
            <a:pPr algn="ctr" indent="0" marL="0">
              <a:buNone/>
            </a:pPr>
            <a:r>
              <a:rPr lang="en-US" sz="1300" b="1" dirty="0">
                <a:solidFill>
                  <a:srgbClr val="4F46E5"/>
                </a:solidFill>
                <a:latin typeface="Calibri" pitchFamily="34" charset="0"/>
                <a:ea typeface="Calibri" pitchFamily="34" charset="-122"/>
                <a:cs typeface="Calibri" pitchFamily="34" charset="-120"/>
              </a:rPr>
              <a:t>5</a:t>
            </a:r>
            <a:endParaRPr lang="en-US" sz="1300" dirty="0"/>
          </a:p>
        </p:txBody>
      </p:sp>
      <p:sp>
        <p:nvSpPr>
          <p:cNvPr id="22" name="Text 20"/>
          <p:cNvSpPr/>
          <p:nvPr/>
        </p:nvSpPr>
        <p:spPr>
          <a:xfrm>
            <a:off x="9469892" y="2715768"/>
            <a:ext cx="2127443" cy="457200"/>
          </a:xfrm>
          <a:prstGeom prst="rect">
            <a:avLst/>
          </a:prstGeom>
          <a:noFill/>
          <a:ln/>
        </p:spPr>
        <p:txBody>
          <a:bodyPr wrap="square" lIns="0" tIns="0" rIns="0" bIns="0" rtlCol="0" anchor="ctr"/>
          <a:lstStyle/>
          <a:p>
            <a:pPr algn="ctr" indent="0" marL="0">
              <a:buNone/>
            </a:pPr>
            <a:r>
              <a:rPr lang="en-US" sz="1150" dirty="0">
                <a:solidFill>
                  <a:srgbClr val="0F172A"/>
                </a:solidFill>
                <a:latin typeface="Calibri" pitchFamily="34" charset="0"/>
                <a:ea typeface="Calibri" pitchFamily="34" charset="-122"/>
                <a:cs typeface="Calibri" pitchFamily="34" charset="-120"/>
              </a:rPr>
              <a:t>Continuous Assurance</a:t>
            </a:r>
            <a:endParaRPr lang="en-US" sz="1150" dirty="0"/>
          </a:p>
        </p:txBody>
      </p:sp>
      <p:sp>
        <p:nvSpPr>
          <p:cNvPr id="23" name="Shape 21"/>
          <p:cNvSpPr/>
          <p:nvPr/>
        </p:nvSpPr>
        <p:spPr>
          <a:xfrm>
            <a:off x="3566160" y="3310128"/>
            <a:ext cx="1828800" cy="0"/>
          </a:xfrm>
          <a:prstGeom prst="line">
            <a:avLst/>
          </a:prstGeom>
          <a:noFill/>
          <a:ln w="12700">
            <a:solidFill>
              <a:srgbClr val="E2E8F0"/>
            </a:solidFill>
            <a:prstDash val="solid"/>
          </a:ln>
        </p:spPr>
      </p:sp>
      <p:sp>
        <p:nvSpPr>
          <p:cNvPr id="24" name="Text 22"/>
          <p:cNvSpPr/>
          <p:nvPr/>
        </p:nvSpPr>
        <p:spPr>
          <a:xfrm>
            <a:off x="5394960" y="3127248"/>
            <a:ext cx="1399032" cy="365760"/>
          </a:xfrm>
          <a:prstGeom prst="rect">
            <a:avLst/>
          </a:prstGeom>
          <a:noFill/>
          <a:ln/>
        </p:spPr>
        <p:txBody>
          <a:bodyPr wrap="square" lIns="0" tIns="0" rIns="0" bIns="0" rtlCol="0" anchor="ctr"/>
          <a:lstStyle/>
          <a:p>
            <a:pPr algn="ctr" indent="0" marL="0">
              <a:buNone/>
            </a:pPr>
            <a:r>
              <a:rPr lang="en-US" sz="850" b="1" spc="50" kern="0" dirty="0">
                <a:solidFill>
                  <a:srgbClr val="64748B"/>
                </a:solidFill>
                <a:latin typeface="Calibri" pitchFamily="34" charset="0"/>
                <a:ea typeface="Calibri" pitchFamily="34" charset="-122"/>
                <a:cs typeface="Calibri" pitchFamily="34" charset="-120"/>
              </a:rPr>
              <a:t>WHAT'S RUNNING UNDERNEATH</a:t>
            </a:r>
            <a:endParaRPr lang="en-US" sz="850" dirty="0"/>
          </a:p>
        </p:txBody>
      </p:sp>
      <p:sp>
        <p:nvSpPr>
          <p:cNvPr id="25" name="Shape 23"/>
          <p:cNvSpPr/>
          <p:nvPr/>
        </p:nvSpPr>
        <p:spPr>
          <a:xfrm>
            <a:off x="6793992" y="3310128"/>
            <a:ext cx="1828800" cy="0"/>
          </a:xfrm>
          <a:prstGeom prst="line">
            <a:avLst/>
          </a:prstGeom>
          <a:noFill/>
          <a:ln w="12700">
            <a:solidFill>
              <a:srgbClr val="E2E8F0"/>
            </a:solidFill>
            <a:prstDash val="solid"/>
          </a:ln>
        </p:spPr>
      </p:sp>
      <p:sp>
        <p:nvSpPr>
          <p:cNvPr id="26" name="Text 24"/>
          <p:cNvSpPr/>
          <p:nvPr/>
        </p:nvSpPr>
        <p:spPr>
          <a:xfrm>
            <a:off x="548640" y="3703320"/>
            <a:ext cx="3698138" cy="960120"/>
          </a:xfrm>
          <a:prstGeom prst="rect">
            <a:avLst/>
          </a:prstGeom>
          <a:noFill/>
          <a:ln/>
        </p:spPr>
        <p:txBody>
          <a:bodyPr wrap="square" lIns="0" tIns="0" rIns="0" bIns="0" rtlCol="0" anchor="ctr"/>
          <a:lstStyle/>
          <a:p>
            <a:pPr algn="ctr" indent="0" marL="0">
              <a:buNone/>
            </a:pPr>
            <a:r>
              <a:rPr lang="en-US" sz="5400" b="1" dirty="0">
                <a:solidFill>
                  <a:srgbClr val="4F46E5"/>
                </a:solidFill>
                <a:latin typeface="Calibri" pitchFamily="34" charset="0"/>
                <a:ea typeface="Calibri" pitchFamily="34" charset="-122"/>
                <a:cs typeface="Calibri" pitchFamily="34" charset="-120"/>
              </a:rPr>
              <a:t>4</a:t>
            </a:r>
            <a:endParaRPr lang="en-US" sz="5400" dirty="0"/>
          </a:p>
        </p:txBody>
      </p:sp>
      <p:sp>
        <p:nvSpPr>
          <p:cNvPr id="27" name="Text 25"/>
          <p:cNvSpPr/>
          <p:nvPr/>
        </p:nvSpPr>
        <p:spPr>
          <a:xfrm>
            <a:off x="548640" y="4617720"/>
            <a:ext cx="3698138" cy="365760"/>
          </a:xfrm>
          <a:prstGeom prst="rect">
            <a:avLst/>
          </a:prstGeom>
          <a:noFill/>
          <a:ln/>
        </p:spPr>
        <p:txBody>
          <a:bodyPr wrap="square" lIns="0" tIns="0" rIns="0" bIns="0" rtlCol="0" anchor="ctr"/>
          <a:lstStyle/>
          <a:p>
            <a:pPr algn="ctr" indent="0" marL="0">
              <a:buNone/>
            </a:pPr>
            <a:r>
              <a:rPr lang="en-US" sz="1300" dirty="0">
                <a:solidFill>
                  <a:srgbClr val="64748B"/>
                </a:solidFill>
                <a:latin typeface="Calibri" pitchFamily="34" charset="0"/>
                <a:ea typeface="Calibri" pitchFamily="34" charset="-122"/>
                <a:cs typeface="Calibri" pitchFamily="34" charset="-120"/>
              </a:rPr>
              <a:t>control domains</a:t>
            </a:r>
            <a:endParaRPr lang="en-US" sz="1300" dirty="0"/>
          </a:p>
        </p:txBody>
      </p:sp>
      <p:sp>
        <p:nvSpPr>
          <p:cNvPr id="28" name="Text 26"/>
          <p:cNvSpPr/>
          <p:nvPr/>
        </p:nvSpPr>
        <p:spPr>
          <a:xfrm>
            <a:off x="4246778" y="3703320"/>
            <a:ext cx="3698138" cy="960120"/>
          </a:xfrm>
          <a:prstGeom prst="rect">
            <a:avLst/>
          </a:prstGeom>
          <a:noFill/>
          <a:ln/>
        </p:spPr>
        <p:txBody>
          <a:bodyPr wrap="square" lIns="0" tIns="0" rIns="0" bIns="0" rtlCol="0" anchor="ctr"/>
          <a:lstStyle/>
          <a:p>
            <a:pPr algn="ctr" indent="0" marL="0">
              <a:buNone/>
            </a:pPr>
            <a:r>
              <a:rPr lang="en-US" sz="5400" b="1" dirty="0">
                <a:solidFill>
                  <a:srgbClr val="4F46E5"/>
                </a:solidFill>
                <a:latin typeface="Calibri" pitchFamily="34" charset="0"/>
                <a:ea typeface="Calibri" pitchFamily="34" charset="-122"/>
                <a:cs typeface="Calibri" pitchFamily="34" charset="-120"/>
              </a:rPr>
              <a:t>10</a:t>
            </a:r>
            <a:endParaRPr lang="en-US" sz="5400" dirty="0"/>
          </a:p>
        </p:txBody>
      </p:sp>
      <p:sp>
        <p:nvSpPr>
          <p:cNvPr id="29" name="Text 27"/>
          <p:cNvSpPr/>
          <p:nvPr/>
        </p:nvSpPr>
        <p:spPr>
          <a:xfrm>
            <a:off x="4246778" y="4617720"/>
            <a:ext cx="3698138" cy="365760"/>
          </a:xfrm>
          <a:prstGeom prst="rect">
            <a:avLst/>
          </a:prstGeom>
          <a:noFill/>
          <a:ln/>
        </p:spPr>
        <p:txBody>
          <a:bodyPr wrap="square" lIns="0" tIns="0" rIns="0" bIns="0" rtlCol="0" anchor="ctr"/>
          <a:lstStyle/>
          <a:p>
            <a:pPr algn="ctr" indent="0" marL="0">
              <a:buNone/>
            </a:pPr>
            <a:r>
              <a:rPr lang="en-US" sz="1300" dirty="0">
                <a:solidFill>
                  <a:srgbClr val="64748B"/>
                </a:solidFill>
                <a:latin typeface="Calibri" pitchFamily="34" charset="0"/>
                <a:ea typeface="Calibri" pitchFamily="34" charset="-122"/>
                <a:cs typeface="Calibri" pitchFamily="34" charset="-120"/>
              </a:rPr>
              <a:t>controls</a:t>
            </a:r>
            <a:endParaRPr lang="en-US" sz="1300" dirty="0"/>
          </a:p>
        </p:txBody>
      </p:sp>
      <p:sp>
        <p:nvSpPr>
          <p:cNvPr id="30" name="Text 28"/>
          <p:cNvSpPr/>
          <p:nvPr/>
        </p:nvSpPr>
        <p:spPr>
          <a:xfrm>
            <a:off x="7944917" y="3703320"/>
            <a:ext cx="3698138" cy="960120"/>
          </a:xfrm>
          <a:prstGeom prst="rect">
            <a:avLst/>
          </a:prstGeom>
          <a:noFill/>
          <a:ln/>
        </p:spPr>
        <p:txBody>
          <a:bodyPr wrap="square" lIns="0" tIns="0" rIns="0" bIns="0" rtlCol="0" anchor="ctr"/>
          <a:lstStyle/>
          <a:p>
            <a:pPr algn="ctr" indent="0" marL="0">
              <a:buNone/>
            </a:pPr>
            <a:r>
              <a:rPr lang="en-US" sz="5400" b="1" dirty="0">
                <a:solidFill>
                  <a:srgbClr val="4F46E5"/>
                </a:solidFill>
                <a:latin typeface="Calibri" pitchFamily="34" charset="0"/>
                <a:ea typeface="Calibri" pitchFamily="34" charset="-122"/>
                <a:cs typeface="Calibri" pitchFamily="34" charset="-120"/>
              </a:rPr>
              <a:t>3</a:t>
            </a:r>
            <a:endParaRPr lang="en-US" sz="5400" dirty="0"/>
          </a:p>
        </p:txBody>
      </p:sp>
      <p:sp>
        <p:nvSpPr>
          <p:cNvPr id="31" name="Text 29"/>
          <p:cNvSpPr/>
          <p:nvPr/>
        </p:nvSpPr>
        <p:spPr>
          <a:xfrm>
            <a:off x="7944917" y="4617720"/>
            <a:ext cx="3698138" cy="365760"/>
          </a:xfrm>
          <a:prstGeom prst="rect">
            <a:avLst/>
          </a:prstGeom>
          <a:noFill/>
          <a:ln/>
        </p:spPr>
        <p:txBody>
          <a:bodyPr wrap="square" lIns="0" tIns="0" rIns="0" bIns="0" rtlCol="0" anchor="ctr"/>
          <a:lstStyle/>
          <a:p>
            <a:pPr algn="ctr" indent="0" marL="0">
              <a:buNone/>
            </a:pPr>
            <a:r>
              <a:rPr lang="en-US" sz="1300" dirty="0">
                <a:solidFill>
                  <a:srgbClr val="64748B"/>
                </a:solidFill>
                <a:latin typeface="Calibri" pitchFamily="34" charset="0"/>
                <a:ea typeface="Calibri" pitchFamily="34" charset="-122"/>
                <a:cs typeface="Calibri" pitchFamily="34" charset="-120"/>
              </a:rPr>
              <a:t>eligibility tiers</a:t>
            </a:r>
            <a:endParaRPr lang="en-US" sz="1300" dirty="0"/>
          </a:p>
        </p:txBody>
      </p:sp>
      <p:sp>
        <p:nvSpPr>
          <p:cNvPr id="32" name="Text 30"/>
          <p:cNvSpPr/>
          <p:nvPr/>
        </p:nvSpPr>
        <p:spPr>
          <a:xfrm>
            <a:off x="1371600" y="5349240"/>
            <a:ext cx="9445752" cy="457200"/>
          </a:xfrm>
          <a:prstGeom prst="rect">
            <a:avLst/>
          </a:prstGeom>
          <a:noFill/>
          <a:ln/>
        </p:spPr>
        <p:txBody>
          <a:bodyPr wrap="square" lIns="0" tIns="0" rIns="0" bIns="0" rtlCol="0" anchor="ctr"/>
          <a:lstStyle/>
          <a:p>
            <a:pPr algn="ctr" indent="0" marL="0">
              <a:buNone/>
            </a:pPr>
            <a:r>
              <a:rPr lang="en-US" sz="1250" i="1" dirty="0">
                <a:solidFill>
                  <a:srgbClr val="64748B"/>
                </a:solidFill>
                <a:latin typeface="Calibri" pitchFamily="34" charset="0"/>
                <a:ea typeface="Calibri" pitchFamily="34" charset="-122"/>
                <a:cs typeface="Calibri" pitchFamily="34" charset="-120"/>
              </a:rPr>
              <a:t>AOC SAF v1.0.0 — implemented, API-backed, evidence-driven. Not a certification authority.</a:t>
            </a:r>
            <a:endParaRPr lang="en-US" sz="1250" dirty="0"/>
          </a:p>
        </p:txBody>
      </p:sp>
      <p:sp>
        <p:nvSpPr>
          <p:cNvPr id="33" name="Text 31"/>
          <p:cNvSpPr/>
          <p:nvPr/>
        </p:nvSpPr>
        <p:spPr>
          <a:xfrm>
            <a:off x="548640" y="6419088"/>
            <a:ext cx="9631375" cy="320040"/>
          </a:xfrm>
          <a:prstGeom prst="rect">
            <a:avLst/>
          </a:prstGeom>
          <a:noFill/>
          <a:ln/>
        </p:spPr>
        <p:txBody>
          <a:bodyPr wrap="square" lIns="0" tIns="0" rIns="0" bIns="0" rtlCol="0" anchor="ctr"/>
          <a:lstStyle/>
          <a:p>
            <a:pPr algn="l" indent="0" marL="0">
              <a:buNone/>
            </a:pPr>
            <a:r>
              <a:rPr lang="en-US" sz="900" dirty="0">
                <a:solidFill>
                  <a:srgbClr val="94A3B8"/>
                </a:solidFill>
                <a:latin typeface="Calibri" pitchFamily="34" charset="0"/>
                <a:ea typeface="Calibri" pitchFamily="34" charset="-122"/>
                <a:cs typeface="Calibri" pitchFamily="34" charset="-120"/>
              </a:rPr>
              <a:t>AOC Enterprise — Official Pitch Deck</a:t>
            </a:r>
            <a:endParaRPr lang="en-US" sz="900" dirty="0"/>
          </a:p>
        </p:txBody>
      </p:sp>
      <p:sp>
        <p:nvSpPr>
          <p:cNvPr id="34" name="Text 32"/>
          <p:cNvSpPr/>
          <p:nvPr/>
        </p:nvSpPr>
        <p:spPr>
          <a:xfrm>
            <a:off x="10362895" y="6419088"/>
            <a:ext cx="1280160" cy="320040"/>
          </a:xfrm>
          <a:prstGeom prst="rect">
            <a:avLst/>
          </a:prstGeom>
          <a:noFill/>
          <a:ln/>
        </p:spPr>
        <p:txBody>
          <a:bodyPr wrap="square" lIns="0" tIns="0" rIns="0" bIns="0" rtlCol="0" anchor="ctr"/>
          <a:lstStyle/>
          <a:p>
            <a:pPr algn="r" indent="0" marL="0">
              <a:buNone/>
            </a:pPr>
            <a:r>
              <a:rPr lang="en-US" sz="900" spc="100" kern="0" dirty="0">
                <a:solidFill>
                  <a:srgbClr val="94A3B8"/>
                </a:solidFill>
                <a:latin typeface="Calibri" pitchFamily="34" charset="0"/>
                <a:ea typeface="Calibri" pitchFamily="34" charset="-122"/>
                <a:cs typeface="Calibri" pitchFamily="34" charset="-120"/>
              </a:rPr>
              <a:t>SK005</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11094415" cy="822960"/>
          </a:xfrm>
          <a:prstGeom prst="rect">
            <a:avLst/>
          </a:prstGeom>
          <a:noFill/>
          <a:ln/>
        </p:spPr>
        <p:txBody>
          <a:bodyPr wrap="square" lIns="0" tIns="0" rIns="0" bIns="0" rtlCol="0" anchor="ctr"/>
          <a:lstStyle/>
          <a:p>
            <a:pPr algn="l" indent="0" marL="0">
              <a:buNone/>
            </a:pPr>
            <a:r>
              <a:rPr lang="en-US" sz="3200" b="1" dirty="0">
                <a:solidFill>
                  <a:srgbClr val="0F172A"/>
                </a:solidFill>
                <a:latin typeface="Calibri" pitchFamily="34" charset="0"/>
                <a:ea typeface="Calibri" pitchFamily="34" charset="-122"/>
                <a:cs typeface="Calibri" pitchFamily="34" charset="-120"/>
              </a:rPr>
              <a:t>The build-it-yourself alternative, priced honestly</a:t>
            </a:r>
            <a:endParaRPr lang="en-US" sz="3200" dirty="0"/>
          </a:p>
        </p:txBody>
      </p:sp>
      <p:sp>
        <p:nvSpPr>
          <p:cNvPr id="3" name="Text 1"/>
          <p:cNvSpPr/>
          <p:nvPr/>
        </p:nvSpPr>
        <p:spPr>
          <a:xfrm>
            <a:off x="548640" y="1298448"/>
            <a:ext cx="11094415" cy="502920"/>
          </a:xfrm>
          <a:prstGeom prst="rect">
            <a:avLst/>
          </a:prstGeom>
          <a:noFill/>
          <a:ln/>
        </p:spPr>
        <p:txBody>
          <a:bodyPr wrap="square" lIns="0" tIns="0" rIns="0" bIns="0" rtlCol="0" anchor="ctr"/>
          <a:lstStyle/>
          <a:p>
            <a:pPr algn="l" indent="0" marL="0">
              <a:buNone/>
            </a:pPr>
            <a:r>
              <a:rPr lang="en-US" sz="1450" dirty="0">
                <a:solidFill>
                  <a:srgbClr val="64748B"/>
                </a:solidFill>
                <a:latin typeface="Calibri" pitchFamily="34" charset="0"/>
                <a:ea typeface="Calibri" pitchFamily="34" charset="-122"/>
                <a:cs typeface="Calibri" pitchFamily="34" charset="-120"/>
              </a:rPr>
              <a:t>Six ways Governed Access changes what your team spends time and risk on.</a:t>
            </a:r>
            <a:endParaRPr lang="en-US" sz="1450" dirty="0"/>
          </a:p>
        </p:txBody>
      </p:sp>
      <p:sp>
        <p:nvSpPr>
          <p:cNvPr id="4" name="Shape 2"/>
          <p:cNvSpPr/>
          <p:nvPr/>
        </p:nvSpPr>
        <p:spPr>
          <a:xfrm>
            <a:off x="548640" y="2011680"/>
            <a:ext cx="3529584" cy="1874520"/>
          </a:xfrm>
          <a:prstGeom prst="roundRect">
            <a:avLst>
              <a:gd name="adj" fmla="val 5854"/>
            </a:avLst>
          </a:prstGeom>
          <a:solidFill>
            <a:srgbClr val="F8FAFC"/>
          </a:solidFill>
          <a:ln w="12700">
            <a:solidFill>
              <a:srgbClr val="E2E8F0"/>
            </a:solidFill>
            <a:prstDash val="solid"/>
          </a:ln>
          <a:effectLst>
            <a:outerShdw sx="100000" sy="100000" kx="0" ky="0" algn="bl" rotWithShape="0" blurRad="127000" dist="25400" dir="5400000">
              <a:srgbClr val="0F172A">
                <a:alpha val="10000"/>
              </a:srgbClr>
            </a:outerShdw>
          </a:effectLst>
        </p:spPr>
      </p:sp>
      <p:sp>
        <p:nvSpPr>
          <p:cNvPr id="5" name="Shape 3"/>
          <p:cNvSpPr/>
          <p:nvPr/>
        </p:nvSpPr>
        <p:spPr>
          <a:xfrm>
            <a:off x="832104" y="2276856"/>
            <a:ext cx="566928" cy="566928"/>
          </a:xfrm>
          <a:prstGeom prst="ellipse">
            <a:avLst/>
          </a:prstGeom>
          <a:solidFill>
            <a:srgbClr val="EEF2FF"/>
          </a:solidFill>
          <a:ln/>
        </p:spPr>
      </p:sp>
      <p:pic>
        <p:nvPicPr>
          <p:cNvPr id="6" name="Image 0" descr="preencoded.png">    </p:cNvPr>
          <p:cNvPicPr>
            <a:picLocks noChangeAspect="1"/>
          </p:cNvPicPr>
          <p:nvPr/>
        </p:nvPicPr>
        <p:blipFill>
          <a:blip r:embed="rId1"/>
          <a:stretch>
            <a:fillRect/>
          </a:stretch>
        </p:blipFill>
        <p:spPr>
          <a:xfrm>
            <a:off x="979505" y="2424257"/>
            <a:ext cx="272125" cy="272125"/>
          </a:xfrm>
          <a:prstGeom prst="rect">
            <a:avLst/>
          </a:prstGeom>
        </p:spPr>
      </p:pic>
      <p:sp>
        <p:nvSpPr>
          <p:cNvPr id="7" name="Text 4"/>
          <p:cNvSpPr/>
          <p:nvPr/>
        </p:nvSpPr>
        <p:spPr>
          <a:xfrm>
            <a:off x="822960" y="2971800"/>
            <a:ext cx="2980944" cy="45720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Engineering focus</a:t>
            </a:r>
            <a:endParaRPr lang="en-US" sz="1500" dirty="0"/>
          </a:p>
        </p:txBody>
      </p:sp>
      <p:sp>
        <p:nvSpPr>
          <p:cNvPr id="8" name="Text 5"/>
          <p:cNvSpPr/>
          <p:nvPr/>
        </p:nvSpPr>
        <p:spPr>
          <a:xfrm>
            <a:off x="822960" y="3383280"/>
            <a:ext cx="2980944" cy="45720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Ship product, not per-provider glue code</a:t>
            </a:r>
            <a:endParaRPr lang="en-US" sz="1150" dirty="0"/>
          </a:p>
        </p:txBody>
      </p:sp>
      <p:sp>
        <p:nvSpPr>
          <p:cNvPr id="9" name="Shape 6"/>
          <p:cNvSpPr/>
          <p:nvPr/>
        </p:nvSpPr>
        <p:spPr>
          <a:xfrm>
            <a:off x="4331056" y="2011680"/>
            <a:ext cx="3529584" cy="1874520"/>
          </a:xfrm>
          <a:prstGeom prst="roundRect">
            <a:avLst>
              <a:gd name="adj" fmla="val 5854"/>
            </a:avLst>
          </a:prstGeom>
          <a:solidFill>
            <a:srgbClr val="F8FAFC"/>
          </a:solidFill>
          <a:ln w="12700">
            <a:solidFill>
              <a:srgbClr val="E2E8F0"/>
            </a:solidFill>
            <a:prstDash val="solid"/>
          </a:ln>
          <a:effectLst>
            <a:outerShdw sx="100000" sy="100000" kx="0" ky="0" algn="bl" rotWithShape="0" blurRad="127000" dist="25400" dir="5400000">
              <a:srgbClr val="0F172A">
                <a:alpha val="10000"/>
              </a:srgbClr>
            </a:outerShdw>
          </a:effectLst>
        </p:spPr>
      </p:sp>
      <p:sp>
        <p:nvSpPr>
          <p:cNvPr id="10" name="Shape 7"/>
          <p:cNvSpPr/>
          <p:nvPr/>
        </p:nvSpPr>
        <p:spPr>
          <a:xfrm>
            <a:off x="4614520" y="2276856"/>
            <a:ext cx="566928" cy="566928"/>
          </a:xfrm>
          <a:prstGeom prst="ellipse">
            <a:avLst/>
          </a:prstGeom>
          <a:solidFill>
            <a:srgbClr val="EEF2FF"/>
          </a:solidFill>
          <a:ln/>
        </p:spPr>
      </p:sp>
      <p:pic>
        <p:nvPicPr>
          <p:cNvPr id="11" name="Image 1" descr="preencoded.png">    </p:cNvPr>
          <p:cNvPicPr>
            <a:picLocks noChangeAspect="1"/>
          </p:cNvPicPr>
          <p:nvPr/>
        </p:nvPicPr>
        <p:blipFill>
          <a:blip r:embed="rId2"/>
          <a:stretch>
            <a:fillRect/>
          </a:stretch>
        </p:blipFill>
        <p:spPr>
          <a:xfrm>
            <a:off x="4761921" y="2424257"/>
            <a:ext cx="272125" cy="272125"/>
          </a:xfrm>
          <a:prstGeom prst="rect">
            <a:avLst/>
          </a:prstGeom>
        </p:spPr>
      </p:pic>
      <p:sp>
        <p:nvSpPr>
          <p:cNvPr id="12" name="Text 8"/>
          <p:cNvSpPr/>
          <p:nvPr/>
        </p:nvSpPr>
        <p:spPr>
          <a:xfrm>
            <a:off x="4605376" y="2971800"/>
            <a:ext cx="2980944" cy="45720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Lower implementation cost</a:t>
            </a:r>
            <a:endParaRPr lang="en-US" sz="1500" dirty="0"/>
          </a:p>
        </p:txBody>
      </p:sp>
      <p:sp>
        <p:nvSpPr>
          <p:cNvPr id="13" name="Text 9"/>
          <p:cNvSpPr/>
          <p:nvPr/>
        </p:nvSpPr>
        <p:spPr>
          <a:xfrm>
            <a:off x="4605376" y="3383280"/>
            <a:ext cx="2980944" cy="45720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Adopt a reviewed model, not a blank page</a:t>
            </a:r>
            <a:endParaRPr lang="en-US" sz="1150" dirty="0"/>
          </a:p>
        </p:txBody>
      </p:sp>
      <p:sp>
        <p:nvSpPr>
          <p:cNvPr id="14" name="Shape 10"/>
          <p:cNvSpPr/>
          <p:nvPr/>
        </p:nvSpPr>
        <p:spPr>
          <a:xfrm>
            <a:off x="8113471" y="2011680"/>
            <a:ext cx="3529584" cy="1874520"/>
          </a:xfrm>
          <a:prstGeom prst="roundRect">
            <a:avLst>
              <a:gd name="adj" fmla="val 5854"/>
            </a:avLst>
          </a:prstGeom>
          <a:solidFill>
            <a:srgbClr val="F8FAFC"/>
          </a:solidFill>
          <a:ln w="12700">
            <a:solidFill>
              <a:srgbClr val="E2E8F0"/>
            </a:solidFill>
            <a:prstDash val="solid"/>
          </a:ln>
          <a:effectLst>
            <a:outerShdw sx="100000" sy="100000" kx="0" ky="0" algn="bl" rotWithShape="0" blurRad="127000" dist="25400" dir="5400000">
              <a:srgbClr val="0F172A">
                <a:alpha val="10000"/>
              </a:srgbClr>
            </a:outerShdw>
          </a:effectLst>
        </p:spPr>
      </p:sp>
      <p:sp>
        <p:nvSpPr>
          <p:cNvPr id="15" name="Shape 11"/>
          <p:cNvSpPr/>
          <p:nvPr/>
        </p:nvSpPr>
        <p:spPr>
          <a:xfrm>
            <a:off x="8396935" y="2276856"/>
            <a:ext cx="566928" cy="566928"/>
          </a:xfrm>
          <a:prstGeom prst="ellipse">
            <a:avLst/>
          </a:prstGeom>
          <a:solidFill>
            <a:srgbClr val="EEF2FF"/>
          </a:solidFill>
          <a:ln/>
        </p:spPr>
      </p:sp>
      <p:pic>
        <p:nvPicPr>
          <p:cNvPr id="16" name="Image 2" descr="preencoded.png">    </p:cNvPr>
          <p:cNvPicPr>
            <a:picLocks noChangeAspect="1"/>
          </p:cNvPicPr>
          <p:nvPr/>
        </p:nvPicPr>
        <p:blipFill>
          <a:blip r:embed="rId3"/>
          <a:stretch>
            <a:fillRect/>
          </a:stretch>
        </p:blipFill>
        <p:spPr>
          <a:xfrm>
            <a:off x="8544336" y="2424257"/>
            <a:ext cx="272125" cy="272125"/>
          </a:xfrm>
          <a:prstGeom prst="rect">
            <a:avLst/>
          </a:prstGeom>
        </p:spPr>
      </p:pic>
      <p:sp>
        <p:nvSpPr>
          <p:cNvPr id="17" name="Text 12"/>
          <p:cNvSpPr/>
          <p:nvPr/>
        </p:nvSpPr>
        <p:spPr>
          <a:xfrm>
            <a:off x="8387791" y="2971800"/>
            <a:ext cx="2980944" cy="45720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Lower ownership cost</a:t>
            </a:r>
            <a:endParaRPr lang="en-US" sz="1500" dirty="0"/>
          </a:p>
        </p:txBody>
      </p:sp>
      <p:sp>
        <p:nvSpPr>
          <p:cNvPr id="18" name="Text 13"/>
          <p:cNvSpPr/>
          <p:nvPr/>
        </p:nvSpPr>
        <p:spPr>
          <a:xfrm>
            <a:off x="8387791" y="3383280"/>
            <a:ext cx="2980944" cy="45720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Provider logic lives in a swappable adapter</a:t>
            </a:r>
            <a:endParaRPr lang="en-US" sz="1150" dirty="0"/>
          </a:p>
        </p:txBody>
      </p:sp>
      <p:sp>
        <p:nvSpPr>
          <p:cNvPr id="19" name="Shape 14"/>
          <p:cNvSpPr/>
          <p:nvPr/>
        </p:nvSpPr>
        <p:spPr>
          <a:xfrm>
            <a:off x="548640" y="4142232"/>
            <a:ext cx="3529584" cy="1874520"/>
          </a:xfrm>
          <a:prstGeom prst="roundRect">
            <a:avLst>
              <a:gd name="adj" fmla="val 5854"/>
            </a:avLst>
          </a:prstGeom>
          <a:solidFill>
            <a:srgbClr val="F8FAFC"/>
          </a:solidFill>
          <a:ln w="12700">
            <a:solidFill>
              <a:srgbClr val="E2E8F0"/>
            </a:solidFill>
            <a:prstDash val="solid"/>
          </a:ln>
          <a:effectLst>
            <a:outerShdw sx="100000" sy="100000" kx="0" ky="0" algn="bl" rotWithShape="0" blurRad="127000" dist="25400" dir="5400000">
              <a:srgbClr val="0F172A">
                <a:alpha val="10000"/>
              </a:srgbClr>
            </a:outerShdw>
          </a:effectLst>
        </p:spPr>
      </p:sp>
      <p:sp>
        <p:nvSpPr>
          <p:cNvPr id="20" name="Shape 15"/>
          <p:cNvSpPr/>
          <p:nvPr/>
        </p:nvSpPr>
        <p:spPr>
          <a:xfrm>
            <a:off x="832104" y="4407408"/>
            <a:ext cx="566928" cy="566928"/>
          </a:xfrm>
          <a:prstGeom prst="ellipse">
            <a:avLst/>
          </a:prstGeom>
          <a:solidFill>
            <a:srgbClr val="EEF2FF"/>
          </a:solidFill>
          <a:ln/>
        </p:spPr>
      </p:sp>
      <p:pic>
        <p:nvPicPr>
          <p:cNvPr id="21" name="Image 3" descr="preencoded.png">    </p:cNvPr>
          <p:cNvPicPr>
            <a:picLocks noChangeAspect="1"/>
          </p:cNvPicPr>
          <p:nvPr/>
        </p:nvPicPr>
        <p:blipFill>
          <a:blip r:embed="rId4"/>
          <a:stretch>
            <a:fillRect/>
          </a:stretch>
        </p:blipFill>
        <p:spPr>
          <a:xfrm>
            <a:off x="979505" y="4554809"/>
            <a:ext cx="272125" cy="272125"/>
          </a:xfrm>
          <a:prstGeom prst="rect">
            <a:avLst/>
          </a:prstGeom>
        </p:spPr>
      </p:pic>
      <p:sp>
        <p:nvSpPr>
          <p:cNvPr id="22" name="Text 16"/>
          <p:cNvSpPr/>
          <p:nvPr/>
        </p:nvSpPr>
        <p:spPr>
          <a:xfrm>
            <a:off x="822960" y="5102352"/>
            <a:ext cx="2980944" cy="45720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Faster enterprise sales</a:t>
            </a:r>
            <a:endParaRPr lang="en-US" sz="1500" dirty="0"/>
          </a:p>
        </p:txBody>
      </p:sp>
      <p:sp>
        <p:nvSpPr>
          <p:cNvPr id="23" name="Text 17"/>
          <p:cNvSpPr/>
          <p:nvPr/>
        </p:nvSpPr>
        <p:spPr>
          <a:xfrm>
            <a:off x="822960" y="5513832"/>
            <a:ext cx="2980944" cy="45720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Answer 'prove it' with a record, not a promise</a:t>
            </a:r>
            <a:endParaRPr lang="en-US" sz="1150" dirty="0"/>
          </a:p>
        </p:txBody>
      </p:sp>
      <p:sp>
        <p:nvSpPr>
          <p:cNvPr id="24" name="Shape 18"/>
          <p:cNvSpPr/>
          <p:nvPr/>
        </p:nvSpPr>
        <p:spPr>
          <a:xfrm>
            <a:off x="4331056" y="4142232"/>
            <a:ext cx="3529584" cy="1874520"/>
          </a:xfrm>
          <a:prstGeom prst="roundRect">
            <a:avLst>
              <a:gd name="adj" fmla="val 5854"/>
            </a:avLst>
          </a:prstGeom>
          <a:solidFill>
            <a:srgbClr val="F8FAFC"/>
          </a:solidFill>
          <a:ln w="12700">
            <a:solidFill>
              <a:srgbClr val="E2E8F0"/>
            </a:solidFill>
            <a:prstDash val="solid"/>
          </a:ln>
          <a:effectLst>
            <a:outerShdw sx="100000" sy="100000" kx="0" ky="0" algn="bl" rotWithShape="0" blurRad="127000" dist="25400" dir="5400000">
              <a:srgbClr val="0F172A">
                <a:alpha val="10000"/>
              </a:srgbClr>
            </a:outerShdw>
          </a:effectLst>
        </p:spPr>
      </p:sp>
      <p:sp>
        <p:nvSpPr>
          <p:cNvPr id="25" name="Shape 19"/>
          <p:cNvSpPr/>
          <p:nvPr/>
        </p:nvSpPr>
        <p:spPr>
          <a:xfrm>
            <a:off x="4614520" y="4407408"/>
            <a:ext cx="566928" cy="566928"/>
          </a:xfrm>
          <a:prstGeom prst="ellipse">
            <a:avLst/>
          </a:prstGeom>
          <a:solidFill>
            <a:srgbClr val="EEF2FF"/>
          </a:solidFill>
          <a:ln/>
        </p:spPr>
      </p:sp>
      <p:pic>
        <p:nvPicPr>
          <p:cNvPr id="26" name="Image 4" descr="preencoded.png">    </p:cNvPr>
          <p:cNvPicPr>
            <a:picLocks noChangeAspect="1"/>
          </p:cNvPicPr>
          <p:nvPr/>
        </p:nvPicPr>
        <p:blipFill>
          <a:blip r:embed="rId5"/>
          <a:stretch>
            <a:fillRect/>
          </a:stretch>
        </p:blipFill>
        <p:spPr>
          <a:xfrm>
            <a:off x="4761921" y="4554809"/>
            <a:ext cx="272125" cy="272125"/>
          </a:xfrm>
          <a:prstGeom prst="rect">
            <a:avLst/>
          </a:prstGeom>
        </p:spPr>
      </p:pic>
      <p:sp>
        <p:nvSpPr>
          <p:cNvPr id="27" name="Text 20"/>
          <p:cNvSpPr/>
          <p:nvPr/>
        </p:nvSpPr>
        <p:spPr>
          <a:xfrm>
            <a:off x="4605376" y="5102352"/>
            <a:ext cx="2980944" cy="45720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Better auditability</a:t>
            </a:r>
            <a:endParaRPr lang="en-US" sz="1500" dirty="0"/>
          </a:p>
        </p:txBody>
      </p:sp>
      <p:sp>
        <p:nvSpPr>
          <p:cNvPr id="28" name="Text 21"/>
          <p:cNvSpPr/>
          <p:nvPr/>
        </p:nvSpPr>
        <p:spPr>
          <a:xfrm>
            <a:off x="4605376" y="5513832"/>
            <a:ext cx="2980944" cy="45720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Read a chain — don't reconstruct logs</a:t>
            </a:r>
            <a:endParaRPr lang="en-US" sz="1150" dirty="0"/>
          </a:p>
        </p:txBody>
      </p:sp>
      <p:sp>
        <p:nvSpPr>
          <p:cNvPr id="29" name="Shape 22"/>
          <p:cNvSpPr/>
          <p:nvPr/>
        </p:nvSpPr>
        <p:spPr>
          <a:xfrm>
            <a:off x="8113471" y="4142232"/>
            <a:ext cx="3529584" cy="1874520"/>
          </a:xfrm>
          <a:prstGeom prst="roundRect">
            <a:avLst>
              <a:gd name="adj" fmla="val 5854"/>
            </a:avLst>
          </a:prstGeom>
          <a:solidFill>
            <a:srgbClr val="F8FAFC"/>
          </a:solidFill>
          <a:ln w="12700">
            <a:solidFill>
              <a:srgbClr val="E2E8F0"/>
            </a:solidFill>
            <a:prstDash val="solid"/>
          </a:ln>
          <a:effectLst>
            <a:outerShdw sx="100000" sy="100000" kx="0" ky="0" algn="bl" rotWithShape="0" blurRad="127000" dist="25400" dir="5400000">
              <a:srgbClr val="0F172A">
                <a:alpha val="10000"/>
              </a:srgbClr>
            </a:outerShdw>
          </a:effectLst>
        </p:spPr>
      </p:sp>
      <p:sp>
        <p:nvSpPr>
          <p:cNvPr id="30" name="Shape 23"/>
          <p:cNvSpPr/>
          <p:nvPr/>
        </p:nvSpPr>
        <p:spPr>
          <a:xfrm>
            <a:off x="8396935" y="4407408"/>
            <a:ext cx="566928" cy="566928"/>
          </a:xfrm>
          <a:prstGeom prst="ellipse">
            <a:avLst/>
          </a:prstGeom>
          <a:solidFill>
            <a:srgbClr val="EEF2FF"/>
          </a:solidFill>
          <a:ln/>
        </p:spPr>
      </p:sp>
      <p:pic>
        <p:nvPicPr>
          <p:cNvPr id="31" name="Image 5" descr="preencoded.png">    </p:cNvPr>
          <p:cNvPicPr>
            <a:picLocks noChangeAspect="1"/>
          </p:cNvPicPr>
          <p:nvPr/>
        </p:nvPicPr>
        <p:blipFill>
          <a:blip r:embed="rId6"/>
          <a:stretch>
            <a:fillRect/>
          </a:stretch>
        </p:blipFill>
        <p:spPr>
          <a:xfrm>
            <a:off x="8544336" y="4554809"/>
            <a:ext cx="272125" cy="272125"/>
          </a:xfrm>
          <a:prstGeom prst="rect">
            <a:avLst/>
          </a:prstGeom>
        </p:spPr>
      </p:pic>
      <p:sp>
        <p:nvSpPr>
          <p:cNvPr id="32" name="Text 24"/>
          <p:cNvSpPr/>
          <p:nvPr/>
        </p:nvSpPr>
        <p:spPr>
          <a:xfrm>
            <a:off x="8387791" y="5102352"/>
            <a:ext cx="2980944" cy="45720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Reduced architectural risk</a:t>
            </a:r>
            <a:endParaRPr lang="en-US" sz="1500" dirty="0"/>
          </a:p>
        </p:txBody>
      </p:sp>
      <p:sp>
        <p:nvSpPr>
          <p:cNvPr id="33" name="Text 25"/>
          <p:cNvSpPr/>
          <p:nvPr/>
        </p:nvSpPr>
        <p:spPr>
          <a:xfrm>
            <a:off x="8387791" y="5513832"/>
            <a:ext cx="2980944" cy="45720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A provider migration touches one adapter</a:t>
            </a:r>
            <a:endParaRPr lang="en-US" sz="1150" dirty="0"/>
          </a:p>
        </p:txBody>
      </p:sp>
      <p:sp>
        <p:nvSpPr>
          <p:cNvPr id="34" name="Text 26"/>
          <p:cNvSpPr/>
          <p:nvPr/>
        </p:nvSpPr>
        <p:spPr>
          <a:xfrm>
            <a:off x="548640" y="6419088"/>
            <a:ext cx="9631375" cy="320040"/>
          </a:xfrm>
          <a:prstGeom prst="rect">
            <a:avLst/>
          </a:prstGeom>
          <a:noFill/>
          <a:ln/>
        </p:spPr>
        <p:txBody>
          <a:bodyPr wrap="square" lIns="0" tIns="0" rIns="0" bIns="0" rtlCol="0" anchor="ctr"/>
          <a:lstStyle/>
          <a:p>
            <a:pPr algn="l" indent="0" marL="0">
              <a:buNone/>
            </a:pPr>
            <a:r>
              <a:rPr lang="en-US" sz="900" dirty="0">
                <a:solidFill>
                  <a:srgbClr val="94A3B8"/>
                </a:solidFill>
                <a:latin typeface="Calibri" pitchFamily="34" charset="0"/>
                <a:ea typeface="Calibri" pitchFamily="34" charset="-122"/>
                <a:cs typeface="Calibri" pitchFamily="34" charset="-120"/>
              </a:rPr>
              <a:t>AOC Enterprise — Official Pitch Deck</a:t>
            </a:r>
            <a:endParaRPr lang="en-US" sz="900" dirty="0"/>
          </a:p>
        </p:txBody>
      </p:sp>
      <p:sp>
        <p:nvSpPr>
          <p:cNvPr id="35" name="Text 27"/>
          <p:cNvSpPr/>
          <p:nvPr/>
        </p:nvSpPr>
        <p:spPr>
          <a:xfrm>
            <a:off x="10362895" y="6419088"/>
            <a:ext cx="1280160" cy="320040"/>
          </a:xfrm>
          <a:prstGeom prst="rect">
            <a:avLst/>
          </a:prstGeom>
          <a:noFill/>
          <a:ln/>
        </p:spPr>
        <p:txBody>
          <a:bodyPr wrap="square" lIns="0" tIns="0" rIns="0" bIns="0" rtlCol="0" anchor="ctr"/>
          <a:lstStyle/>
          <a:p>
            <a:pPr algn="r" indent="0" marL="0">
              <a:buNone/>
            </a:pPr>
            <a:r>
              <a:rPr lang="en-US" sz="900" spc="100" kern="0" dirty="0">
                <a:solidFill>
                  <a:srgbClr val="94A3B8"/>
                </a:solidFill>
                <a:latin typeface="Calibri" pitchFamily="34" charset="0"/>
                <a:ea typeface="Calibri" pitchFamily="34" charset="-122"/>
                <a:cs typeface="Calibri" pitchFamily="34" charset="-120"/>
              </a:rPr>
              <a:t>SK005</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11094415" cy="822960"/>
          </a:xfrm>
          <a:prstGeom prst="rect">
            <a:avLst/>
          </a:prstGeom>
          <a:noFill/>
          <a:ln/>
        </p:spPr>
        <p:txBody>
          <a:bodyPr wrap="square" lIns="0" tIns="0" rIns="0" bIns="0" rtlCol="0" anchor="ctr"/>
          <a:lstStyle/>
          <a:p>
            <a:pPr algn="l" indent="0" marL="0">
              <a:buNone/>
            </a:pPr>
            <a:r>
              <a:rPr lang="en-US" sz="3200" b="1" dirty="0">
                <a:solidFill>
                  <a:srgbClr val="0F172A"/>
                </a:solidFill>
                <a:latin typeface="Calibri" pitchFamily="34" charset="0"/>
                <a:ea typeface="Calibri" pitchFamily="34" charset="-122"/>
                <a:cs typeface="Calibri" pitchFamily="34" charset="-120"/>
              </a:rPr>
              <a:t>Where the governance gap is most expensive</a:t>
            </a:r>
            <a:endParaRPr lang="en-US" sz="3200" dirty="0"/>
          </a:p>
        </p:txBody>
      </p:sp>
      <p:sp>
        <p:nvSpPr>
          <p:cNvPr id="3" name="Text 1"/>
          <p:cNvSpPr/>
          <p:nvPr/>
        </p:nvSpPr>
        <p:spPr>
          <a:xfrm>
            <a:off x="548640" y="1298448"/>
            <a:ext cx="11094415" cy="502920"/>
          </a:xfrm>
          <a:prstGeom prst="rect">
            <a:avLst/>
          </a:prstGeom>
          <a:noFill/>
          <a:ln/>
        </p:spPr>
        <p:txBody>
          <a:bodyPr wrap="square" lIns="0" tIns="0" rIns="0" bIns="0" rtlCol="0" anchor="ctr"/>
          <a:lstStyle/>
          <a:p>
            <a:pPr algn="l" indent="0" marL="0">
              <a:buNone/>
            </a:pPr>
            <a:r>
              <a:rPr lang="en-US" sz="1450" dirty="0">
                <a:solidFill>
                  <a:srgbClr val="64748B"/>
                </a:solidFill>
                <a:latin typeface="Calibri" pitchFamily="34" charset="0"/>
                <a:ea typeface="Calibri" pitchFamily="34" charset="-122"/>
                <a:cs typeface="Calibri" pitchFamily="34" charset="-120"/>
              </a:rPr>
              <a:t>Six segments where ‘prove what happened to this document’ is routine, not rare.</a:t>
            </a:r>
            <a:endParaRPr lang="en-US" sz="1450" dirty="0"/>
          </a:p>
        </p:txBody>
      </p:sp>
      <p:sp>
        <p:nvSpPr>
          <p:cNvPr id="4" name="Shape 2"/>
          <p:cNvSpPr/>
          <p:nvPr/>
        </p:nvSpPr>
        <p:spPr>
          <a:xfrm>
            <a:off x="649224" y="2377440"/>
            <a:ext cx="566928" cy="566928"/>
          </a:xfrm>
          <a:prstGeom prst="ellipse">
            <a:avLst/>
          </a:prstGeom>
          <a:solidFill>
            <a:srgbClr val="EEF2FF"/>
          </a:solidFill>
          <a:ln/>
        </p:spPr>
      </p:sp>
      <p:pic>
        <p:nvPicPr>
          <p:cNvPr id="5" name="Image 0" descr="preencoded.png">    </p:cNvPr>
          <p:cNvPicPr>
            <a:picLocks noChangeAspect="1"/>
          </p:cNvPicPr>
          <p:nvPr/>
        </p:nvPicPr>
        <p:blipFill>
          <a:blip r:embed="rId1"/>
          <a:stretch>
            <a:fillRect/>
          </a:stretch>
        </p:blipFill>
        <p:spPr>
          <a:xfrm>
            <a:off x="796625" y="2524841"/>
            <a:ext cx="272125" cy="272125"/>
          </a:xfrm>
          <a:prstGeom prst="rect">
            <a:avLst/>
          </a:prstGeom>
        </p:spPr>
      </p:pic>
      <p:sp>
        <p:nvSpPr>
          <p:cNvPr id="6" name="Text 3"/>
          <p:cNvSpPr/>
          <p:nvPr/>
        </p:nvSpPr>
        <p:spPr>
          <a:xfrm>
            <a:off x="1325880" y="2167128"/>
            <a:ext cx="4389120" cy="365760"/>
          </a:xfrm>
          <a:prstGeom prst="rect">
            <a:avLst/>
          </a:prstGeom>
          <a:noFill/>
          <a:ln/>
        </p:spPr>
        <p:txBody>
          <a:bodyPr wrap="square" lIns="0" tIns="0" rIns="0" bIns="0" rtlCol="0" anchor="ctr"/>
          <a:lstStyle/>
          <a:p>
            <a:pPr indent="0" marL="0">
              <a:buNone/>
            </a:pPr>
            <a:r>
              <a:rPr lang="en-US" sz="1450" b="1" dirty="0">
                <a:solidFill>
                  <a:srgbClr val="0F172A"/>
                </a:solidFill>
                <a:latin typeface="Calibri" pitchFamily="34" charset="0"/>
                <a:ea typeface="Calibri" pitchFamily="34" charset="-122"/>
                <a:cs typeface="Calibri" pitchFamily="34" charset="-120"/>
              </a:rPr>
              <a:t>Legal Platforms</a:t>
            </a:r>
            <a:endParaRPr lang="en-US" sz="1450" dirty="0"/>
          </a:p>
        </p:txBody>
      </p:sp>
      <p:sp>
        <p:nvSpPr>
          <p:cNvPr id="7" name="Text 4"/>
          <p:cNvSpPr/>
          <p:nvPr/>
        </p:nvSpPr>
        <p:spPr>
          <a:xfrm>
            <a:off x="1325880" y="2532888"/>
            <a:ext cx="4389120" cy="640080"/>
          </a:xfrm>
          <a:prstGeom prst="rect">
            <a:avLst/>
          </a:prstGeom>
          <a:noFill/>
          <a:ln/>
        </p:spPr>
        <p:txBody>
          <a:bodyPr wrap="square" lIns="0" tIns="0" rIns="0" bIns="0" rtlCol="0" anchor="ctr"/>
          <a:lstStyle/>
          <a:p>
            <a:pPr indent="0" marL="0">
              <a:lnSpc>
                <a:spcPct val="110000"/>
              </a:lnSpc>
              <a:buNone/>
            </a:pPr>
            <a:r>
              <a:rPr lang="en-US" sz="1150" dirty="0">
                <a:solidFill>
                  <a:srgbClr val="64748B"/>
                </a:solidFill>
                <a:latin typeface="Calibri" pitchFamily="34" charset="0"/>
                <a:ea typeface="Calibri" pitchFamily="34" charset="-122"/>
                <a:cs typeface="Calibri" pitchFamily="34" charset="-120"/>
              </a:rPr>
              <a:t>Tight, changing access windows across diligence and discovery</a:t>
            </a:r>
            <a:endParaRPr lang="en-US" sz="1150" dirty="0"/>
          </a:p>
        </p:txBody>
      </p:sp>
      <p:sp>
        <p:nvSpPr>
          <p:cNvPr id="8" name="Shape 5"/>
          <p:cNvSpPr/>
          <p:nvPr/>
        </p:nvSpPr>
        <p:spPr>
          <a:xfrm>
            <a:off x="6577279" y="2377440"/>
            <a:ext cx="566928" cy="566928"/>
          </a:xfrm>
          <a:prstGeom prst="ellipse">
            <a:avLst/>
          </a:prstGeom>
          <a:solidFill>
            <a:srgbClr val="EEF2FF"/>
          </a:solidFill>
          <a:ln/>
        </p:spPr>
      </p:sp>
      <p:pic>
        <p:nvPicPr>
          <p:cNvPr id="9" name="Image 1" descr="preencoded.png">    </p:cNvPr>
          <p:cNvPicPr>
            <a:picLocks noChangeAspect="1"/>
          </p:cNvPicPr>
          <p:nvPr/>
        </p:nvPicPr>
        <p:blipFill>
          <a:blip r:embed="rId2"/>
          <a:stretch>
            <a:fillRect/>
          </a:stretch>
        </p:blipFill>
        <p:spPr>
          <a:xfrm>
            <a:off x="6724680" y="2524841"/>
            <a:ext cx="272125" cy="272125"/>
          </a:xfrm>
          <a:prstGeom prst="rect">
            <a:avLst/>
          </a:prstGeom>
        </p:spPr>
      </p:pic>
      <p:sp>
        <p:nvSpPr>
          <p:cNvPr id="10" name="Text 6"/>
          <p:cNvSpPr/>
          <p:nvPr/>
        </p:nvSpPr>
        <p:spPr>
          <a:xfrm>
            <a:off x="7253935" y="2167128"/>
            <a:ext cx="4389120" cy="365760"/>
          </a:xfrm>
          <a:prstGeom prst="rect">
            <a:avLst/>
          </a:prstGeom>
          <a:noFill/>
          <a:ln/>
        </p:spPr>
        <p:txBody>
          <a:bodyPr wrap="square" lIns="0" tIns="0" rIns="0" bIns="0" rtlCol="0" anchor="ctr"/>
          <a:lstStyle/>
          <a:p>
            <a:pPr indent="0" marL="0">
              <a:buNone/>
            </a:pPr>
            <a:r>
              <a:rPr lang="en-US" sz="1450" b="1" dirty="0">
                <a:solidFill>
                  <a:srgbClr val="0F172A"/>
                </a:solidFill>
                <a:latin typeface="Calibri" pitchFamily="34" charset="0"/>
                <a:ea typeface="Calibri" pitchFamily="34" charset="-122"/>
                <a:cs typeface="Calibri" pitchFamily="34" charset="-120"/>
              </a:rPr>
              <a:t>Healthcare</a:t>
            </a:r>
            <a:endParaRPr lang="en-US" sz="1450" dirty="0"/>
          </a:p>
        </p:txBody>
      </p:sp>
      <p:sp>
        <p:nvSpPr>
          <p:cNvPr id="11" name="Text 7"/>
          <p:cNvSpPr/>
          <p:nvPr/>
        </p:nvSpPr>
        <p:spPr>
          <a:xfrm>
            <a:off x="7253935" y="2532888"/>
            <a:ext cx="4389120" cy="640080"/>
          </a:xfrm>
          <a:prstGeom prst="rect">
            <a:avLst/>
          </a:prstGeom>
          <a:noFill/>
          <a:ln/>
        </p:spPr>
        <p:txBody>
          <a:bodyPr wrap="square" lIns="0" tIns="0" rIns="0" bIns="0" rtlCol="0" anchor="ctr"/>
          <a:lstStyle/>
          <a:p>
            <a:pPr indent="0" marL="0">
              <a:lnSpc>
                <a:spcPct val="110000"/>
              </a:lnSpc>
              <a:buNone/>
            </a:pPr>
            <a:r>
              <a:rPr lang="en-US" sz="1150" dirty="0">
                <a:solidFill>
                  <a:srgbClr val="64748B"/>
                </a:solidFill>
                <a:latin typeface="Calibri" pitchFamily="34" charset="0"/>
                <a:ea typeface="Calibri" pitchFamily="34" charset="-122"/>
                <a:cs typeface="Calibri" pitchFamily="34" charset="-120"/>
              </a:rPr>
              <a:t>Conditions must be enforced, not just promised</a:t>
            </a:r>
            <a:endParaRPr lang="en-US" sz="1150" dirty="0"/>
          </a:p>
        </p:txBody>
      </p:sp>
      <p:sp>
        <p:nvSpPr>
          <p:cNvPr id="12" name="Shape 8"/>
          <p:cNvSpPr/>
          <p:nvPr/>
        </p:nvSpPr>
        <p:spPr>
          <a:xfrm>
            <a:off x="649224" y="3785616"/>
            <a:ext cx="566928" cy="566928"/>
          </a:xfrm>
          <a:prstGeom prst="ellipse">
            <a:avLst/>
          </a:prstGeom>
          <a:solidFill>
            <a:srgbClr val="EEF2FF"/>
          </a:solidFill>
          <a:ln/>
        </p:spPr>
      </p:sp>
      <p:pic>
        <p:nvPicPr>
          <p:cNvPr id="13" name="Image 2" descr="preencoded.png">    </p:cNvPr>
          <p:cNvPicPr>
            <a:picLocks noChangeAspect="1"/>
          </p:cNvPicPr>
          <p:nvPr/>
        </p:nvPicPr>
        <p:blipFill>
          <a:blip r:embed="rId3"/>
          <a:stretch>
            <a:fillRect/>
          </a:stretch>
        </p:blipFill>
        <p:spPr>
          <a:xfrm>
            <a:off x="796625" y="3933017"/>
            <a:ext cx="272125" cy="272125"/>
          </a:xfrm>
          <a:prstGeom prst="rect">
            <a:avLst/>
          </a:prstGeom>
        </p:spPr>
      </p:pic>
      <p:sp>
        <p:nvSpPr>
          <p:cNvPr id="14" name="Text 9"/>
          <p:cNvSpPr/>
          <p:nvPr/>
        </p:nvSpPr>
        <p:spPr>
          <a:xfrm>
            <a:off x="1325880" y="3575304"/>
            <a:ext cx="4389120" cy="365760"/>
          </a:xfrm>
          <a:prstGeom prst="rect">
            <a:avLst/>
          </a:prstGeom>
          <a:noFill/>
          <a:ln/>
        </p:spPr>
        <p:txBody>
          <a:bodyPr wrap="square" lIns="0" tIns="0" rIns="0" bIns="0" rtlCol="0" anchor="ctr"/>
          <a:lstStyle/>
          <a:p>
            <a:pPr indent="0" marL="0">
              <a:buNone/>
            </a:pPr>
            <a:r>
              <a:rPr lang="en-US" sz="1450" b="1" dirty="0">
                <a:solidFill>
                  <a:srgbClr val="0F172A"/>
                </a:solidFill>
                <a:latin typeface="Calibri" pitchFamily="34" charset="0"/>
                <a:ea typeface="Calibri" pitchFamily="34" charset="-122"/>
                <a:cs typeface="Calibri" pitchFamily="34" charset="-120"/>
              </a:rPr>
              <a:t>Enterprise SaaS</a:t>
            </a:r>
            <a:endParaRPr lang="en-US" sz="1450" dirty="0"/>
          </a:p>
        </p:txBody>
      </p:sp>
      <p:sp>
        <p:nvSpPr>
          <p:cNvPr id="15" name="Text 10"/>
          <p:cNvSpPr/>
          <p:nvPr/>
        </p:nvSpPr>
        <p:spPr>
          <a:xfrm>
            <a:off x="1325880" y="3941064"/>
            <a:ext cx="4389120" cy="640080"/>
          </a:xfrm>
          <a:prstGeom prst="rect">
            <a:avLst/>
          </a:prstGeom>
          <a:noFill/>
          <a:ln/>
        </p:spPr>
        <p:txBody>
          <a:bodyPr wrap="square" lIns="0" tIns="0" rIns="0" bIns="0" rtlCol="0" anchor="ctr"/>
          <a:lstStyle/>
          <a:p>
            <a:pPr indent="0" marL="0">
              <a:lnSpc>
                <a:spcPct val="110000"/>
              </a:lnSpc>
              <a:buNone/>
            </a:pPr>
            <a:r>
              <a:rPr lang="en-US" sz="1150" dirty="0">
                <a:solidFill>
                  <a:srgbClr val="64748B"/>
                </a:solidFill>
                <a:latin typeface="Calibri" pitchFamily="34" charset="0"/>
                <a:ea typeface="Calibri" pitchFamily="34" charset="-122"/>
                <a:cs typeface="Calibri" pitchFamily="34" charset="-120"/>
              </a:rPr>
              <a:t>Every customer storage integration becomes bespoke access logic</a:t>
            </a:r>
            <a:endParaRPr lang="en-US" sz="1150" dirty="0"/>
          </a:p>
        </p:txBody>
      </p:sp>
      <p:sp>
        <p:nvSpPr>
          <p:cNvPr id="16" name="Shape 11"/>
          <p:cNvSpPr/>
          <p:nvPr/>
        </p:nvSpPr>
        <p:spPr>
          <a:xfrm>
            <a:off x="6577279" y="3785616"/>
            <a:ext cx="566928" cy="566928"/>
          </a:xfrm>
          <a:prstGeom prst="ellipse">
            <a:avLst/>
          </a:prstGeom>
          <a:solidFill>
            <a:srgbClr val="EEF2FF"/>
          </a:solidFill>
          <a:ln/>
        </p:spPr>
      </p:sp>
      <p:pic>
        <p:nvPicPr>
          <p:cNvPr id="17" name="Image 3" descr="preencoded.png">    </p:cNvPr>
          <p:cNvPicPr>
            <a:picLocks noChangeAspect="1"/>
          </p:cNvPicPr>
          <p:nvPr/>
        </p:nvPicPr>
        <p:blipFill>
          <a:blip r:embed="rId4"/>
          <a:stretch>
            <a:fillRect/>
          </a:stretch>
        </p:blipFill>
        <p:spPr>
          <a:xfrm>
            <a:off x="6724680" y="3933017"/>
            <a:ext cx="272125" cy="272125"/>
          </a:xfrm>
          <a:prstGeom prst="rect">
            <a:avLst/>
          </a:prstGeom>
        </p:spPr>
      </p:pic>
      <p:sp>
        <p:nvSpPr>
          <p:cNvPr id="18" name="Text 12"/>
          <p:cNvSpPr/>
          <p:nvPr/>
        </p:nvSpPr>
        <p:spPr>
          <a:xfrm>
            <a:off x="7253935" y="3575304"/>
            <a:ext cx="4389120" cy="365760"/>
          </a:xfrm>
          <a:prstGeom prst="rect">
            <a:avLst/>
          </a:prstGeom>
          <a:noFill/>
          <a:ln/>
        </p:spPr>
        <p:txBody>
          <a:bodyPr wrap="square" lIns="0" tIns="0" rIns="0" bIns="0" rtlCol="0" anchor="ctr"/>
          <a:lstStyle/>
          <a:p>
            <a:pPr indent="0" marL="0">
              <a:buNone/>
            </a:pPr>
            <a:r>
              <a:rPr lang="en-US" sz="1450" b="1" dirty="0">
                <a:solidFill>
                  <a:srgbClr val="0F172A"/>
                </a:solidFill>
                <a:latin typeface="Calibri" pitchFamily="34" charset="0"/>
                <a:ea typeface="Calibri" pitchFamily="34" charset="-122"/>
                <a:cs typeface="Calibri" pitchFamily="34" charset="-120"/>
              </a:rPr>
              <a:t>Document Platforms</a:t>
            </a:r>
            <a:endParaRPr lang="en-US" sz="1450" dirty="0"/>
          </a:p>
        </p:txBody>
      </p:sp>
      <p:sp>
        <p:nvSpPr>
          <p:cNvPr id="19" name="Text 13"/>
          <p:cNvSpPr/>
          <p:nvPr/>
        </p:nvSpPr>
        <p:spPr>
          <a:xfrm>
            <a:off x="7253935" y="3941064"/>
            <a:ext cx="4389120" cy="640080"/>
          </a:xfrm>
          <a:prstGeom prst="rect">
            <a:avLst/>
          </a:prstGeom>
          <a:noFill/>
          <a:ln/>
        </p:spPr>
        <p:txBody>
          <a:bodyPr wrap="square" lIns="0" tIns="0" rIns="0" bIns="0" rtlCol="0" anchor="ctr"/>
          <a:lstStyle/>
          <a:p>
            <a:pPr indent="0" marL="0">
              <a:lnSpc>
                <a:spcPct val="110000"/>
              </a:lnSpc>
              <a:buNone/>
            </a:pPr>
            <a:r>
              <a:rPr lang="en-US" sz="1150" dirty="0">
                <a:solidFill>
                  <a:srgbClr val="64748B"/>
                </a:solidFill>
                <a:latin typeface="Calibri" pitchFamily="34" charset="0"/>
                <a:ea typeface="Calibri" pitchFamily="34" charset="-122"/>
                <a:cs typeface="Calibri" pitchFamily="34" charset="-120"/>
              </a:rPr>
              <a:t>Access governance is the core product, not a bolt-on</a:t>
            </a:r>
            <a:endParaRPr lang="en-US" sz="1150" dirty="0"/>
          </a:p>
        </p:txBody>
      </p:sp>
      <p:sp>
        <p:nvSpPr>
          <p:cNvPr id="20" name="Shape 14"/>
          <p:cNvSpPr/>
          <p:nvPr/>
        </p:nvSpPr>
        <p:spPr>
          <a:xfrm>
            <a:off x="649224" y="5193792"/>
            <a:ext cx="566928" cy="566928"/>
          </a:xfrm>
          <a:prstGeom prst="ellipse">
            <a:avLst/>
          </a:prstGeom>
          <a:solidFill>
            <a:srgbClr val="EEF2FF"/>
          </a:solidFill>
          <a:ln/>
        </p:spPr>
      </p:sp>
      <p:pic>
        <p:nvPicPr>
          <p:cNvPr id="21" name="Image 4" descr="preencoded.png">    </p:cNvPr>
          <p:cNvPicPr>
            <a:picLocks noChangeAspect="1"/>
          </p:cNvPicPr>
          <p:nvPr/>
        </p:nvPicPr>
        <p:blipFill>
          <a:blip r:embed="rId5"/>
          <a:stretch>
            <a:fillRect/>
          </a:stretch>
        </p:blipFill>
        <p:spPr>
          <a:xfrm>
            <a:off x="796625" y="5341193"/>
            <a:ext cx="272125" cy="272125"/>
          </a:xfrm>
          <a:prstGeom prst="rect">
            <a:avLst/>
          </a:prstGeom>
        </p:spPr>
      </p:pic>
      <p:sp>
        <p:nvSpPr>
          <p:cNvPr id="22" name="Text 15"/>
          <p:cNvSpPr/>
          <p:nvPr/>
        </p:nvSpPr>
        <p:spPr>
          <a:xfrm>
            <a:off x="1325880" y="4983480"/>
            <a:ext cx="4389120" cy="365760"/>
          </a:xfrm>
          <a:prstGeom prst="rect">
            <a:avLst/>
          </a:prstGeom>
          <a:noFill/>
          <a:ln/>
        </p:spPr>
        <p:txBody>
          <a:bodyPr wrap="square" lIns="0" tIns="0" rIns="0" bIns="0" rtlCol="0" anchor="ctr"/>
          <a:lstStyle/>
          <a:p>
            <a:pPr indent="0" marL="0">
              <a:buNone/>
            </a:pPr>
            <a:r>
              <a:rPr lang="en-US" sz="1450" b="1" dirty="0">
                <a:solidFill>
                  <a:srgbClr val="0F172A"/>
                </a:solidFill>
                <a:latin typeface="Calibri" pitchFamily="34" charset="0"/>
                <a:ea typeface="Calibri" pitchFamily="34" charset="-122"/>
                <a:cs typeface="Calibri" pitchFamily="34" charset="-120"/>
              </a:rPr>
              <a:t>AI Platforms</a:t>
            </a:r>
            <a:endParaRPr lang="en-US" sz="1450" dirty="0"/>
          </a:p>
        </p:txBody>
      </p:sp>
      <p:sp>
        <p:nvSpPr>
          <p:cNvPr id="23" name="Text 16"/>
          <p:cNvSpPr/>
          <p:nvPr/>
        </p:nvSpPr>
        <p:spPr>
          <a:xfrm>
            <a:off x="1325880" y="5349240"/>
            <a:ext cx="4389120" cy="640080"/>
          </a:xfrm>
          <a:prstGeom prst="rect">
            <a:avLst/>
          </a:prstGeom>
          <a:noFill/>
          <a:ln/>
        </p:spPr>
        <p:txBody>
          <a:bodyPr wrap="square" lIns="0" tIns="0" rIns="0" bIns="0" rtlCol="0" anchor="ctr"/>
          <a:lstStyle/>
          <a:p>
            <a:pPr indent="0" marL="0">
              <a:lnSpc>
                <a:spcPct val="110000"/>
              </a:lnSpc>
              <a:buNone/>
            </a:pPr>
            <a:r>
              <a:rPr lang="en-US" sz="1150" dirty="0">
                <a:solidFill>
                  <a:srgbClr val="64748B"/>
                </a:solidFill>
                <a:latin typeface="Calibri" pitchFamily="34" charset="0"/>
                <a:ea typeface="Calibri" pitchFamily="34" charset="-122"/>
                <a:cs typeface="Calibri" pitchFamily="34" charset="-120"/>
              </a:rPr>
              <a:t>Agents request access at machine speed and volume</a:t>
            </a:r>
            <a:endParaRPr lang="en-US" sz="1150" dirty="0"/>
          </a:p>
        </p:txBody>
      </p:sp>
      <p:sp>
        <p:nvSpPr>
          <p:cNvPr id="24" name="Shape 17"/>
          <p:cNvSpPr/>
          <p:nvPr/>
        </p:nvSpPr>
        <p:spPr>
          <a:xfrm>
            <a:off x="6577279" y="5193792"/>
            <a:ext cx="566928" cy="566928"/>
          </a:xfrm>
          <a:prstGeom prst="ellipse">
            <a:avLst/>
          </a:prstGeom>
          <a:solidFill>
            <a:srgbClr val="EEF2FF"/>
          </a:solidFill>
          <a:ln/>
        </p:spPr>
      </p:sp>
      <p:pic>
        <p:nvPicPr>
          <p:cNvPr id="25" name="Image 5" descr="preencoded.png">    </p:cNvPr>
          <p:cNvPicPr>
            <a:picLocks noChangeAspect="1"/>
          </p:cNvPicPr>
          <p:nvPr/>
        </p:nvPicPr>
        <p:blipFill>
          <a:blip r:embed="rId6"/>
          <a:stretch>
            <a:fillRect/>
          </a:stretch>
        </p:blipFill>
        <p:spPr>
          <a:xfrm>
            <a:off x="6724680" y="5341193"/>
            <a:ext cx="272125" cy="272125"/>
          </a:xfrm>
          <a:prstGeom prst="rect">
            <a:avLst/>
          </a:prstGeom>
        </p:spPr>
      </p:pic>
      <p:sp>
        <p:nvSpPr>
          <p:cNvPr id="26" name="Text 18"/>
          <p:cNvSpPr/>
          <p:nvPr/>
        </p:nvSpPr>
        <p:spPr>
          <a:xfrm>
            <a:off x="7253935" y="4983480"/>
            <a:ext cx="4389120" cy="365760"/>
          </a:xfrm>
          <a:prstGeom prst="rect">
            <a:avLst/>
          </a:prstGeom>
          <a:noFill/>
          <a:ln/>
        </p:spPr>
        <p:txBody>
          <a:bodyPr wrap="square" lIns="0" tIns="0" rIns="0" bIns="0" rtlCol="0" anchor="ctr"/>
          <a:lstStyle/>
          <a:p>
            <a:pPr indent="0" marL="0">
              <a:buNone/>
            </a:pPr>
            <a:r>
              <a:rPr lang="en-US" sz="1450" b="1" dirty="0">
                <a:solidFill>
                  <a:srgbClr val="0F172A"/>
                </a:solidFill>
                <a:latin typeface="Calibri" pitchFamily="34" charset="0"/>
                <a:ea typeface="Calibri" pitchFamily="34" charset="-122"/>
                <a:cs typeface="Calibri" pitchFamily="34" charset="-120"/>
              </a:rPr>
              <a:t>Financial Services</a:t>
            </a:r>
            <a:endParaRPr lang="en-US" sz="1450" dirty="0"/>
          </a:p>
        </p:txBody>
      </p:sp>
      <p:sp>
        <p:nvSpPr>
          <p:cNvPr id="27" name="Text 19"/>
          <p:cNvSpPr/>
          <p:nvPr/>
        </p:nvSpPr>
        <p:spPr>
          <a:xfrm>
            <a:off x="7253935" y="5349240"/>
            <a:ext cx="4389120" cy="640080"/>
          </a:xfrm>
          <a:prstGeom prst="rect">
            <a:avLst/>
          </a:prstGeom>
          <a:noFill/>
          <a:ln/>
        </p:spPr>
        <p:txBody>
          <a:bodyPr wrap="square" lIns="0" tIns="0" rIns="0" bIns="0" rtlCol="0" anchor="ctr"/>
          <a:lstStyle/>
          <a:p>
            <a:pPr indent="0" marL="0">
              <a:lnSpc>
                <a:spcPct val="110000"/>
              </a:lnSpc>
              <a:buNone/>
            </a:pPr>
            <a:r>
              <a:rPr lang="en-US" sz="1150" dirty="0">
                <a:solidFill>
                  <a:srgbClr val="64748B"/>
                </a:solidFill>
                <a:latin typeface="Calibri" pitchFamily="34" charset="0"/>
                <a:ea typeface="Calibri" pitchFamily="34" charset="-122"/>
                <a:cs typeface="Calibri" pitchFamily="34" charset="-120"/>
              </a:rPr>
              <a:t>Access must be provable years after the fact</a:t>
            </a:r>
            <a:endParaRPr lang="en-US" sz="1150" dirty="0"/>
          </a:p>
        </p:txBody>
      </p:sp>
      <p:sp>
        <p:nvSpPr>
          <p:cNvPr id="28" name="Text 20"/>
          <p:cNvSpPr/>
          <p:nvPr/>
        </p:nvSpPr>
        <p:spPr>
          <a:xfrm>
            <a:off x="548640" y="6419088"/>
            <a:ext cx="9631375" cy="320040"/>
          </a:xfrm>
          <a:prstGeom prst="rect">
            <a:avLst/>
          </a:prstGeom>
          <a:noFill/>
          <a:ln/>
        </p:spPr>
        <p:txBody>
          <a:bodyPr wrap="square" lIns="0" tIns="0" rIns="0" bIns="0" rtlCol="0" anchor="ctr"/>
          <a:lstStyle/>
          <a:p>
            <a:pPr algn="l" indent="0" marL="0">
              <a:buNone/>
            </a:pPr>
            <a:r>
              <a:rPr lang="en-US" sz="900" dirty="0">
                <a:solidFill>
                  <a:srgbClr val="94A3B8"/>
                </a:solidFill>
                <a:latin typeface="Calibri" pitchFamily="34" charset="0"/>
                <a:ea typeface="Calibri" pitchFamily="34" charset="-122"/>
                <a:cs typeface="Calibri" pitchFamily="34" charset="-120"/>
              </a:rPr>
              <a:t>AOC Enterprise — Official Pitch Deck</a:t>
            </a:r>
            <a:endParaRPr lang="en-US" sz="900" dirty="0"/>
          </a:p>
        </p:txBody>
      </p:sp>
      <p:sp>
        <p:nvSpPr>
          <p:cNvPr id="29" name="Text 21"/>
          <p:cNvSpPr/>
          <p:nvPr/>
        </p:nvSpPr>
        <p:spPr>
          <a:xfrm>
            <a:off x="10362895" y="6419088"/>
            <a:ext cx="1280160" cy="320040"/>
          </a:xfrm>
          <a:prstGeom prst="rect">
            <a:avLst/>
          </a:prstGeom>
          <a:noFill/>
          <a:ln/>
        </p:spPr>
        <p:txBody>
          <a:bodyPr wrap="square" lIns="0" tIns="0" rIns="0" bIns="0" rtlCol="0" anchor="ctr"/>
          <a:lstStyle/>
          <a:p>
            <a:pPr algn="r" indent="0" marL="0">
              <a:buNone/>
            </a:pPr>
            <a:r>
              <a:rPr lang="en-US" sz="900" spc="100" kern="0" dirty="0">
                <a:solidFill>
                  <a:srgbClr val="94A3B8"/>
                </a:solidFill>
                <a:latin typeface="Calibri" pitchFamily="34" charset="0"/>
                <a:ea typeface="Calibri" pitchFamily="34" charset="-122"/>
                <a:cs typeface="Calibri" pitchFamily="34" charset="-120"/>
              </a:rPr>
              <a:t>SK005</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11094415" cy="822960"/>
          </a:xfrm>
          <a:prstGeom prst="rect">
            <a:avLst/>
          </a:prstGeom>
          <a:noFill/>
          <a:ln/>
        </p:spPr>
        <p:txBody>
          <a:bodyPr wrap="square" lIns="0" tIns="0" rIns="0" bIns="0" rtlCol="0" anchor="ctr"/>
          <a:lstStyle/>
          <a:p>
            <a:pPr algn="l" indent="0" marL="0">
              <a:buNone/>
            </a:pPr>
            <a:r>
              <a:rPr lang="en-US" sz="3200" b="1" dirty="0">
                <a:solidFill>
                  <a:srgbClr val="0F172A"/>
                </a:solidFill>
                <a:latin typeface="Calibri" pitchFamily="34" charset="0"/>
                <a:ea typeface="Calibri" pitchFamily="34" charset="-122"/>
                <a:cs typeface="Calibri" pitchFamily="34" charset="-120"/>
              </a:rPr>
              <a:t>How we work together</a:t>
            </a:r>
            <a:endParaRPr lang="en-US" sz="3200" dirty="0"/>
          </a:p>
        </p:txBody>
      </p:sp>
      <p:sp>
        <p:nvSpPr>
          <p:cNvPr id="3" name="Text 1"/>
          <p:cNvSpPr/>
          <p:nvPr/>
        </p:nvSpPr>
        <p:spPr>
          <a:xfrm>
            <a:off x="548640" y="1298448"/>
            <a:ext cx="11094415" cy="502920"/>
          </a:xfrm>
          <a:prstGeom prst="rect">
            <a:avLst/>
          </a:prstGeom>
          <a:noFill/>
          <a:ln/>
        </p:spPr>
        <p:txBody>
          <a:bodyPr wrap="square" lIns="0" tIns="0" rIns="0" bIns="0" rtlCol="0" anchor="ctr"/>
          <a:lstStyle/>
          <a:p>
            <a:pPr algn="l" indent="0" marL="0">
              <a:buNone/>
            </a:pPr>
            <a:r>
              <a:rPr lang="en-US" sz="1450" dirty="0">
                <a:solidFill>
                  <a:srgbClr val="64748B"/>
                </a:solidFill>
                <a:latin typeface="Calibri" pitchFamily="34" charset="0"/>
                <a:ea typeface="Calibri" pitchFamily="34" charset="-122"/>
                <a:cs typeface="Calibri" pitchFamily="34" charset="-120"/>
              </a:rPr>
              <a:t>Start small and specific. Scale only if it fits.</a:t>
            </a:r>
            <a:endParaRPr lang="en-US" sz="1450" dirty="0"/>
          </a:p>
        </p:txBody>
      </p:sp>
      <p:sp>
        <p:nvSpPr>
          <p:cNvPr id="4" name="Shape 2"/>
          <p:cNvSpPr/>
          <p:nvPr/>
        </p:nvSpPr>
        <p:spPr>
          <a:xfrm>
            <a:off x="1246602" y="3063240"/>
            <a:ext cx="822960" cy="822960"/>
          </a:xfrm>
          <a:prstGeom prst="ellipse">
            <a:avLst/>
          </a:prstGeom>
          <a:solidFill>
            <a:srgbClr val="4F46E5"/>
          </a:solidFill>
          <a:ln/>
          <a:effectLst>
            <a:outerShdw sx="100000" sy="100000" kx="0" ky="0" algn="bl" rotWithShape="0" blurRad="127000" dist="25400" dir="5400000">
              <a:srgbClr val="0F172A">
                <a:alpha val="10000"/>
              </a:srgbClr>
            </a:outerShdw>
          </a:effectLst>
        </p:spPr>
      </p:sp>
      <p:sp>
        <p:nvSpPr>
          <p:cNvPr id="5" name="Text 3"/>
          <p:cNvSpPr/>
          <p:nvPr/>
        </p:nvSpPr>
        <p:spPr>
          <a:xfrm>
            <a:off x="1246602" y="3063240"/>
            <a:ext cx="822960" cy="822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Shape 4"/>
          <p:cNvSpPr/>
          <p:nvPr/>
        </p:nvSpPr>
        <p:spPr>
          <a:xfrm>
            <a:off x="2161002" y="3474720"/>
            <a:ext cx="1213043" cy="0"/>
          </a:xfrm>
          <a:prstGeom prst="line">
            <a:avLst/>
          </a:prstGeom>
          <a:noFill/>
          <a:ln w="19050">
            <a:solidFill>
              <a:srgbClr val="E2E8F0"/>
            </a:solidFill>
            <a:prstDash val="solid"/>
          </a:ln>
        </p:spPr>
      </p:sp>
      <p:sp>
        <p:nvSpPr>
          <p:cNvPr id="7" name="Text 5"/>
          <p:cNvSpPr/>
          <p:nvPr/>
        </p:nvSpPr>
        <p:spPr>
          <a:xfrm>
            <a:off x="603504" y="4123944"/>
            <a:ext cx="2109155" cy="685800"/>
          </a:xfrm>
          <a:prstGeom prst="rect">
            <a:avLst/>
          </a:prstGeom>
          <a:noFill/>
          <a:ln/>
        </p:spPr>
        <p:txBody>
          <a:bodyPr wrap="square" lIns="0" tIns="0" rIns="0" bIns="0" rtlCol="0" anchor="t"/>
          <a:lstStyle/>
          <a:p>
            <a:pPr algn="ctr" indent="0" marL="0">
              <a:buNone/>
            </a:pPr>
            <a:r>
              <a:rPr lang="en-US" sz="1450" b="1" dirty="0">
                <a:solidFill>
                  <a:srgbClr val="0F172A"/>
                </a:solidFill>
                <a:latin typeface="Calibri" pitchFamily="34" charset="0"/>
                <a:ea typeface="Calibri" pitchFamily="34" charset="-122"/>
                <a:cs typeface="Calibri" pitchFamily="34" charset="-120"/>
              </a:rPr>
              <a:t>Technical</a:t>
            </a:r>
            <a:endParaRPr lang="en-US" sz="1450" dirty="0"/>
          </a:p>
          <a:p>
            <a:pPr algn="ctr" indent="0" marL="0">
              <a:buNone/>
            </a:pPr>
            <a:r>
              <a:rPr lang="en-US" sz="1450" b="1" dirty="0">
                <a:solidFill>
                  <a:srgbClr val="0F172A"/>
                </a:solidFill>
                <a:latin typeface="Calibri" pitchFamily="34" charset="0"/>
                <a:ea typeface="Calibri" pitchFamily="34" charset="-122"/>
                <a:cs typeface="Calibri" pitchFamily="34" charset="-120"/>
              </a:rPr>
              <a:t>Assessment</a:t>
            </a:r>
            <a:endParaRPr lang="en-US" sz="1450" dirty="0"/>
          </a:p>
        </p:txBody>
      </p:sp>
      <p:sp>
        <p:nvSpPr>
          <p:cNvPr id="8" name="Text 6"/>
          <p:cNvSpPr/>
          <p:nvPr/>
        </p:nvSpPr>
        <p:spPr>
          <a:xfrm>
            <a:off x="603504" y="4928616"/>
            <a:ext cx="2109155" cy="365760"/>
          </a:xfrm>
          <a:prstGeom prst="rect">
            <a:avLst/>
          </a:prstGeom>
          <a:noFill/>
          <a:ln/>
        </p:spPr>
        <p:txBody>
          <a:bodyPr wrap="square" lIns="0" tIns="0" rIns="0" bIns="0" rtlCol="0" anchor="ctr"/>
          <a:lstStyle/>
          <a:p>
            <a:pPr algn="ctr" indent="0" marL="0">
              <a:buNone/>
            </a:pPr>
            <a:r>
              <a:rPr lang="en-US" sz="1150" i="1" dirty="0">
                <a:solidFill>
                  <a:srgbClr val="64748B"/>
                </a:solidFill>
                <a:latin typeface="Calibri" pitchFamily="34" charset="0"/>
                <a:ea typeface="Calibri" pitchFamily="34" charset="-122"/>
                <a:cs typeface="Calibri" pitchFamily="34" charset="-120"/>
              </a:rPr>
              <a:t>Gap analysis</a:t>
            </a:r>
            <a:endParaRPr lang="en-US" sz="1150" dirty="0"/>
          </a:p>
        </p:txBody>
      </p:sp>
      <p:sp>
        <p:nvSpPr>
          <p:cNvPr id="9" name="Shape 7"/>
          <p:cNvSpPr/>
          <p:nvPr/>
        </p:nvSpPr>
        <p:spPr>
          <a:xfrm>
            <a:off x="3465485" y="3063240"/>
            <a:ext cx="822960" cy="822960"/>
          </a:xfrm>
          <a:prstGeom prst="ellipse">
            <a:avLst/>
          </a:prstGeom>
          <a:solidFill>
            <a:srgbClr val="EEF2FF"/>
          </a:solidFill>
          <a:ln/>
        </p:spPr>
      </p:sp>
      <p:sp>
        <p:nvSpPr>
          <p:cNvPr id="10" name="Text 8"/>
          <p:cNvSpPr/>
          <p:nvPr/>
        </p:nvSpPr>
        <p:spPr>
          <a:xfrm>
            <a:off x="3465485" y="3063240"/>
            <a:ext cx="822960" cy="822960"/>
          </a:xfrm>
          <a:prstGeom prst="rect">
            <a:avLst/>
          </a:prstGeom>
          <a:noFill/>
          <a:ln/>
        </p:spPr>
        <p:txBody>
          <a:bodyPr wrap="square" lIns="0" tIns="0" rIns="0" bIns="0" rtlCol="0" anchor="ctr"/>
          <a:lstStyle/>
          <a:p>
            <a:pPr algn="ctr" indent="0" marL="0">
              <a:buNone/>
            </a:pPr>
            <a:r>
              <a:rPr lang="en-US" sz="2000" b="1" dirty="0">
                <a:solidFill>
                  <a:srgbClr val="4F46E5"/>
                </a:solidFill>
                <a:latin typeface="Calibri" pitchFamily="34" charset="0"/>
                <a:ea typeface="Calibri" pitchFamily="34" charset="-122"/>
                <a:cs typeface="Calibri" pitchFamily="34" charset="-120"/>
              </a:rPr>
              <a:t>2</a:t>
            </a:r>
            <a:endParaRPr lang="en-US" sz="2000" dirty="0"/>
          </a:p>
        </p:txBody>
      </p:sp>
      <p:sp>
        <p:nvSpPr>
          <p:cNvPr id="11" name="Shape 9"/>
          <p:cNvSpPr/>
          <p:nvPr/>
        </p:nvSpPr>
        <p:spPr>
          <a:xfrm>
            <a:off x="4379885" y="3474720"/>
            <a:ext cx="1213043" cy="0"/>
          </a:xfrm>
          <a:prstGeom prst="line">
            <a:avLst/>
          </a:prstGeom>
          <a:noFill/>
          <a:ln w="19050">
            <a:solidFill>
              <a:srgbClr val="E2E8F0"/>
            </a:solidFill>
            <a:prstDash val="solid"/>
          </a:ln>
        </p:spPr>
      </p:sp>
      <p:sp>
        <p:nvSpPr>
          <p:cNvPr id="12" name="Text 10"/>
          <p:cNvSpPr/>
          <p:nvPr/>
        </p:nvSpPr>
        <p:spPr>
          <a:xfrm>
            <a:off x="2822387" y="4123944"/>
            <a:ext cx="2109155" cy="685800"/>
          </a:xfrm>
          <a:prstGeom prst="rect">
            <a:avLst/>
          </a:prstGeom>
          <a:noFill/>
          <a:ln/>
        </p:spPr>
        <p:txBody>
          <a:bodyPr wrap="square" lIns="0" tIns="0" rIns="0" bIns="0" rtlCol="0" anchor="t"/>
          <a:lstStyle/>
          <a:p>
            <a:pPr algn="ctr" indent="0" marL="0">
              <a:buNone/>
            </a:pPr>
            <a:r>
              <a:rPr lang="en-US" sz="1450" b="1" dirty="0">
                <a:solidFill>
                  <a:srgbClr val="0F172A"/>
                </a:solidFill>
                <a:latin typeface="Calibri" pitchFamily="34" charset="0"/>
                <a:ea typeface="Calibri" pitchFamily="34" charset="-122"/>
                <a:cs typeface="Calibri" pitchFamily="34" charset="-120"/>
              </a:rPr>
              <a:t>Design</a:t>
            </a:r>
            <a:endParaRPr lang="en-US" sz="1450" dirty="0"/>
          </a:p>
          <a:p>
            <a:pPr algn="ctr" indent="0" marL="0">
              <a:buNone/>
            </a:pPr>
            <a:r>
              <a:rPr lang="en-US" sz="1450" b="1" dirty="0">
                <a:solidFill>
                  <a:srgbClr val="0F172A"/>
                </a:solidFill>
                <a:latin typeface="Calibri" pitchFamily="34" charset="0"/>
                <a:ea typeface="Calibri" pitchFamily="34" charset="-122"/>
                <a:cs typeface="Calibri" pitchFamily="34" charset="-120"/>
              </a:rPr>
              <a:t>Partner</a:t>
            </a:r>
            <a:endParaRPr lang="en-US" sz="1450" dirty="0"/>
          </a:p>
        </p:txBody>
      </p:sp>
      <p:sp>
        <p:nvSpPr>
          <p:cNvPr id="13" name="Text 11"/>
          <p:cNvSpPr/>
          <p:nvPr/>
        </p:nvSpPr>
        <p:spPr>
          <a:xfrm>
            <a:off x="2822387" y="4928616"/>
            <a:ext cx="2109155" cy="365760"/>
          </a:xfrm>
          <a:prstGeom prst="rect">
            <a:avLst/>
          </a:prstGeom>
          <a:noFill/>
          <a:ln/>
        </p:spPr>
        <p:txBody>
          <a:bodyPr wrap="square" lIns="0" tIns="0" rIns="0" bIns="0" rtlCol="0" anchor="ctr"/>
          <a:lstStyle/>
          <a:p>
            <a:pPr algn="ctr" indent="0" marL="0">
              <a:buNone/>
            </a:pPr>
            <a:r>
              <a:rPr lang="en-US" sz="1150" i="1" dirty="0">
                <a:solidFill>
                  <a:srgbClr val="64748B"/>
                </a:solidFill>
                <a:latin typeface="Calibri" pitchFamily="34" charset="0"/>
                <a:ea typeface="Calibri" pitchFamily="34" charset="-122"/>
                <a:cs typeface="Calibri" pitchFamily="34" charset="-120"/>
              </a:rPr>
              <a:t>Working integration</a:t>
            </a:r>
            <a:endParaRPr lang="en-US" sz="1150" dirty="0"/>
          </a:p>
        </p:txBody>
      </p:sp>
      <p:sp>
        <p:nvSpPr>
          <p:cNvPr id="14" name="Shape 12"/>
          <p:cNvSpPr/>
          <p:nvPr/>
        </p:nvSpPr>
        <p:spPr>
          <a:xfrm>
            <a:off x="5684368" y="3063240"/>
            <a:ext cx="822960" cy="822960"/>
          </a:xfrm>
          <a:prstGeom prst="ellipse">
            <a:avLst/>
          </a:prstGeom>
          <a:solidFill>
            <a:srgbClr val="EEF2FF"/>
          </a:solidFill>
          <a:ln/>
        </p:spPr>
      </p:sp>
      <p:sp>
        <p:nvSpPr>
          <p:cNvPr id="15" name="Text 13"/>
          <p:cNvSpPr/>
          <p:nvPr/>
        </p:nvSpPr>
        <p:spPr>
          <a:xfrm>
            <a:off x="5684368" y="3063240"/>
            <a:ext cx="822960" cy="822960"/>
          </a:xfrm>
          <a:prstGeom prst="rect">
            <a:avLst/>
          </a:prstGeom>
          <a:noFill/>
          <a:ln/>
        </p:spPr>
        <p:txBody>
          <a:bodyPr wrap="square" lIns="0" tIns="0" rIns="0" bIns="0" rtlCol="0" anchor="ctr"/>
          <a:lstStyle/>
          <a:p>
            <a:pPr algn="ctr" indent="0" marL="0">
              <a:buNone/>
            </a:pPr>
            <a:r>
              <a:rPr lang="en-US" sz="2000" b="1" dirty="0">
                <a:solidFill>
                  <a:srgbClr val="4F46E5"/>
                </a:solidFill>
                <a:latin typeface="Calibri" pitchFamily="34" charset="0"/>
                <a:ea typeface="Calibri" pitchFamily="34" charset="-122"/>
                <a:cs typeface="Calibri" pitchFamily="34" charset="-120"/>
              </a:rPr>
              <a:t>3</a:t>
            </a:r>
            <a:endParaRPr lang="en-US" sz="2000" dirty="0"/>
          </a:p>
        </p:txBody>
      </p:sp>
      <p:sp>
        <p:nvSpPr>
          <p:cNvPr id="16" name="Shape 14"/>
          <p:cNvSpPr/>
          <p:nvPr/>
        </p:nvSpPr>
        <p:spPr>
          <a:xfrm>
            <a:off x="6598768" y="3474720"/>
            <a:ext cx="1213043" cy="0"/>
          </a:xfrm>
          <a:prstGeom prst="line">
            <a:avLst/>
          </a:prstGeom>
          <a:noFill/>
          <a:ln w="19050">
            <a:solidFill>
              <a:srgbClr val="E2E8F0"/>
            </a:solidFill>
            <a:prstDash val="solid"/>
          </a:ln>
        </p:spPr>
      </p:sp>
      <p:sp>
        <p:nvSpPr>
          <p:cNvPr id="17" name="Text 15"/>
          <p:cNvSpPr/>
          <p:nvPr/>
        </p:nvSpPr>
        <p:spPr>
          <a:xfrm>
            <a:off x="5041270" y="4123944"/>
            <a:ext cx="2109155" cy="685800"/>
          </a:xfrm>
          <a:prstGeom prst="rect">
            <a:avLst/>
          </a:prstGeom>
          <a:noFill/>
          <a:ln/>
        </p:spPr>
        <p:txBody>
          <a:bodyPr wrap="square" lIns="0" tIns="0" rIns="0" bIns="0" rtlCol="0" anchor="t"/>
          <a:lstStyle/>
          <a:p>
            <a:pPr algn="ctr" indent="0" marL="0">
              <a:buNone/>
            </a:pPr>
            <a:r>
              <a:rPr lang="en-US" sz="1450" b="1" dirty="0">
                <a:solidFill>
                  <a:srgbClr val="0F172A"/>
                </a:solidFill>
                <a:latin typeface="Calibri" pitchFamily="34" charset="0"/>
                <a:ea typeface="Calibri" pitchFamily="34" charset="-122"/>
                <a:cs typeface="Calibri" pitchFamily="34" charset="-120"/>
              </a:rPr>
              <a:t>Implementation</a:t>
            </a:r>
            <a:endParaRPr lang="en-US" sz="1450" dirty="0"/>
          </a:p>
        </p:txBody>
      </p:sp>
      <p:sp>
        <p:nvSpPr>
          <p:cNvPr id="18" name="Text 16"/>
          <p:cNvSpPr/>
          <p:nvPr/>
        </p:nvSpPr>
        <p:spPr>
          <a:xfrm>
            <a:off x="5041270" y="4928616"/>
            <a:ext cx="2109155" cy="365760"/>
          </a:xfrm>
          <a:prstGeom prst="rect">
            <a:avLst/>
          </a:prstGeom>
          <a:noFill/>
          <a:ln/>
        </p:spPr>
        <p:txBody>
          <a:bodyPr wrap="square" lIns="0" tIns="0" rIns="0" bIns="0" rtlCol="0" anchor="ctr"/>
          <a:lstStyle/>
          <a:p>
            <a:pPr algn="ctr" indent="0" marL="0">
              <a:buNone/>
            </a:pPr>
            <a:r>
              <a:rPr lang="en-US" sz="1150" i="1" dirty="0">
                <a:solidFill>
                  <a:srgbClr val="64748B"/>
                </a:solidFill>
                <a:latin typeface="Calibri" pitchFamily="34" charset="0"/>
                <a:ea typeface="Calibri" pitchFamily="34" charset="-122"/>
                <a:cs typeface="Calibri" pitchFamily="34" charset="-120"/>
              </a:rPr>
              <a:t>Validated end-to-end</a:t>
            </a:r>
            <a:endParaRPr lang="en-US" sz="1150" dirty="0"/>
          </a:p>
        </p:txBody>
      </p:sp>
      <p:sp>
        <p:nvSpPr>
          <p:cNvPr id="19" name="Shape 17"/>
          <p:cNvSpPr/>
          <p:nvPr/>
        </p:nvSpPr>
        <p:spPr>
          <a:xfrm>
            <a:off x="7903251" y="3063240"/>
            <a:ext cx="822960" cy="822960"/>
          </a:xfrm>
          <a:prstGeom prst="ellipse">
            <a:avLst/>
          </a:prstGeom>
          <a:solidFill>
            <a:srgbClr val="EEF2FF"/>
          </a:solidFill>
          <a:ln/>
        </p:spPr>
      </p:sp>
      <p:sp>
        <p:nvSpPr>
          <p:cNvPr id="20" name="Text 18"/>
          <p:cNvSpPr/>
          <p:nvPr/>
        </p:nvSpPr>
        <p:spPr>
          <a:xfrm>
            <a:off x="7903251" y="3063240"/>
            <a:ext cx="822960" cy="822960"/>
          </a:xfrm>
          <a:prstGeom prst="rect">
            <a:avLst/>
          </a:prstGeom>
          <a:noFill/>
          <a:ln/>
        </p:spPr>
        <p:txBody>
          <a:bodyPr wrap="square" lIns="0" tIns="0" rIns="0" bIns="0" rtlCol="0" anchor="ctr"/>
          <a:lstStyle/>
          <a:p>
            <a:pPr algn="ctr" indent="0" marL="0">
              <a:buNone/>
            </a:pPr>
            <a:r>
              <a:rPr lang="en-US" sz="2000" b="1" dirty="0">
                <a:solidFill>
                  <a:srgbClr val="4F46E5"/>
                </a:solidFill>
                <a:latin typeface="Calibri" pitchFamily="34" charset="0"/>
                <a:ea typeface="Calibri" pitchFamily="34" charset="-122"/>
                <a:cs typeface="Calibri" pitchFamily="34" charset="-120"/>
              </a:rPr>
              <a:t>4</a:t>
            </a:r>
            <a:endParaRPr lang="en-US" sz="2000" dirty="0"/>
          </a:p>
        </p:txBody>
      </p:sp>
      <p:sp>
        <p:nvSpPr>
          <p:cNvPr id="21" name="Shape 19"/>
          <p:cNvSpPr/>
          <p:nvPr/>
        </p:nvSpPr>
        <p:spPr>
          <a:xfrm>
            <a:off x="8817651" y="3474720"/>
            <a:ext cx="1213043" cy="0"/>
          </a:xfrm>
          <a:prstGeom prst="line">
            <a:avLst/>
          </a:prstGeom>
          <a:noFill/>
          <a:ln w="19050">
            <a:solidFill>
              <a:srgbClr val="E2E8F0"/>
            </a:solidFill>
            <a:prstDash val="solid"/>
          </a:ln>
        </p:spPr>
      </p:sp>
      <p:sp>
        <p:nvSpPr>
          <p:cNvPr id="22" name="Text 20"/>
          <p:cNvSpPr/>
          <p:nvPr/>
        </p:nvSpPr>
        <p:spPr>
          <a:xfrm>
            <a:off x="7260153" y="4123944"/>
            <a:ext cx="2109155" cy="685800"/>
          </a:xfrm>
          <a:prstGeom prst="rect">
            <a:avLst/>
          </a:prstGeom>
          <a:noFill/>
          <a:ln/>
        </p:spPr>
        <p:txBody>
          <a:bodyPr wrap="square" lIns="0" tIns="0" rIns="0" bIns="0" rtlCol="0" anchor="t"/>
          <a:lstStyle/>
          <a:p>
            <a:pPr algn="ctr" indent="0" marL="0">
              <a:buNone/>
            </a:pPr>
            <a:r>
              <a:rPr lang="en-US" sz="1450" b="1" dirty="0">
                <a:solidFill>
                  <a:srgbClr val="0F172A"/>
                </a:solidFill>
                <a:latin typeface="Calibri" pitchFamily="34" charset="0"/>
                <a:ea typeface="Calibri" pitchFamily="34" charset="-122"/>
                <a:cs typeface="Calibri" pitchFamily="34" charset="-120"/>
              </a:rPr>
              <a:t>Enterprise</a:t>
            </a:r>
            <a:endParaRPr lang="en-US" sz="1450" dirty="0"/>
          </a:p>
          <a:p>
            <a:pPr algn="ctr" indent="0" marL="0">
              <a:buNone/>
            </a:pPr>
            <a:r>
              <a:rPr lang="en-US" sz="1450" b="1" dirty="0">
                <a:solidFill>
                  <a:srgbClr val="0F172A"/>
                </a:solidFill>
                <a:latin typeface="Calibri" pitchFamily="34" charset="0"/>
                <a:ea typeface="Calibri" pitchFamily="34" charset="-122"/>
                <a:cs typeface="Calibri" pitchFamily="34" charset="-120"/>
              </a:rPr>
              <a:t>Platform</a:t>
            </a:r>
            <a:endParaRPr lang="en-US" sz="1450" dirty="0"/>
          </a:p>
        </p:txBody>
      </p:sp>
      <p:sp>
        <p:nvSpPr>
          <p:cNvPr id="23" name="Text 21"/>
          <p:cNvSpPr/>
          <p:nvPr/>
        </p:nvSpPr>
        <p:spPr>
          <a:xfrm>
            <a:off x="7260153" y="4928616"/>
            <a:ext cx="2109155" cy="365760"/>
          </a:xfrm>
          <a:prstGeom prst="rect">
            <a:avLst/>
          </a:prstGeom>
          <a:noFill/>
          <a:ln/>
        </p:spPr>
        <p:txBody>
          <a:bodyPr wrap="square" lIns="0" tIns="0" rIns="0" bIns="0" rtlCol="0" anchor="ctr"/>
          <a:lstStyle/>
          <a:p>
            <a:pPr algn="ctr" indent="0" marL="0">
              <a:buNone/>
            </a:pPr>
            <a:r>
              <a:rPr lang="en-US" sz="1150" i="1" dirty="0">
                <a:solidFill>
                  <a:srgbClr val="64748B"/>
                </a:solidFill>
                <a:latin typeface="Calibri" pitchFamily="34" charset="0"/>
                <a:ea typeface="Calibri" pitchFamily="34" charset="-122"/>
                <a:cs typeface="Calibri" pitchFamily="34" charset="-120"/>
              </a:rPr>
              <a:t>Production deployment</a:t>
            </a:r>
            <a:endParaRPr lang="en-US" sz="1150" dirty="0"/>
          </a:p>
        </p:txBody>
      </p:sp>
      <p:sp>
        <p:nvSpPr>
          <p:cNvPr id="24" name="Shape 22"/>
          <p:cNvSpPr/>
          <p:nvPr/>
        </p:nvSpPr>
        <p:spPr>
          <a:xfrm>
            <a:off x="10122134" y="3063240"/>
            <a:ext cx="822960" cy="822960"/>
          </a:xfrm>
          <a:prstGeom prst="ellipse">
            <a:avLst/>
          </a:prstGeom>
          <a:solidFill>
            <a:srgbClr val="EEF2FF"/>
          </a:solidFill>
          <a:ln/>
        </p:spPr>
      </p:sp>
      <p:sp>
        <p:nvSpPr>
          <p:cNvPr id="25" name="Text 23"/>
          <p:cNvSpPr/>
          <p:nvPr/>
        </p:nvSpPr>
        <p:spPr>
          <a:xfrm>
            <a:off x="10122134" y="3063240"/>
            <a:ext cx="822960" cy="822960"/>
          </a:xfrm>
          <a:prstGeom prst="rect">
            <a:avLst/>
          </a:prstGeom>
          <a:noFill/>
          <a:ln/>
        </p:spPr>
        <p:txBody>
          <a:bodyPr wrap="square" lIns="0" tIns="0" rIns="0" bIns="0" rtlCol="0" anchor="ctr"/>
          <a:lstStyle/>
          <a:p>
            <a:pPr algn="ctr" indent="0" marL="0">
              <a:buNone/>
            </a:pPr>
            <a:r>
              <a:rPr lang="en-US" sz="2000" b="1" dirty="0">
                <a:solidFill>
                  <a:srgbClr val="4F46E5"/>
                </a:solidFill>
                <a:latin typeface="Calibri" pitchFamily="34" charset="0"/>
                <a:ea typeface="Calibri" pitchFamily="34" charset="-122"/>
                <a:cs typeface="Calibri" pitchFamily="34" charset="-120"/>
              </a:rPr>
              <a:t>5</a:t>
            </a:r>
            <a:endParaRPr lang="en-US" sz="2000" dirty="0"/>
          </a:p>
        </p:txBody>
      </p:sp>
      <p:sp>
        <p:nvSpPr>
          <p:cNvPr id="26" name="Text 24"/>
          <p:cNvSpPr/>
          <p:nvPr/>
        </p:nvSpPr>
        <p:spPr>
          <a:xfrm>
            <a:off x="9479036" y="4123944"/>
            <a:ext cx="2109155" cy="685800"/>
          </a:xfrm>
          <a:prstGeom prst="rect">
            <a:avLst/>
          </a:prstGeom>
          <a:noFill/>
          <a:ln/>
        </p:spPr>
        <p:txBody>
          <a:bodyPr wrap="square" lIns="0" tIns="0" rIns="0" bIns="0" rtlCol="0" anchor="t"/>
          <a:lstStyle/>
          <a:p>
            <a:pPr algn="ctr" indent="0" marL="0">
              <a:buNone/>
            </a:pPr>
            <a:r>
              <a:rPr lang="en-US" sz="1450" b="1" dirty="0">
                <a:solidFill>
                  <a:srgbClr val="0F172A"/>
                </a:solidFill>
                <a:latin typeface="Calibri" pitchFamily="34" charset="0"/>
                <a:ea typeface="Calibri" pitchFamily="34" charset="-122"/>
                <a:cs typeface="Calibri" pitchFamily="34" charset="-120"/>
              </a:rPr>
              <a:t>Continuous</a:t>
            </a:r>
            <a:endParaRPr lang="en-US" sz="1450" dirty="0"/>
          </a:p>
          <a:p>
            <a:pPr algn="ctr" indent="0" marL="0">
              <a:buNone/>
            </a:pPr>
            <a:r>
              <a:rPr lang="en-US" sz="1450" b="1" dirty="0">
                <a:solidFill>
                  <a:srgbClr val="0F172A"/>
                </a:solidFill>
                <a:latin typeface="Calibri" pitchFamily="34" charset="0"/>
                <a:ea typeface="Calibri" pitchFamily="34" charset="-122"/>
                <a:cs typeface="Calibri" pitchFamily="34" charset="-120"/>
              </a:rPr>
              <a:t>Assurance</a:t>
            </a:r>
            <a:endParaRPr lang="en-US" sz="1450" dirty="0"/>
          </a:p>
        </p:txBody>
      </p:sp>
      <p:sp>
        <p:nvSpPr>
          <p:cNvPr id="27" name="Text 25"/>
          <p:cNvSpPr/>
          <p:nvPr/>
        </p:nvSpPr>
        <p:spPr>
          <a:xfrm>
            <a:off x="9479036" y="4928616"/>
            <a:ext cx="2109155" cy="365760"/>
          </a:xfrm>
          <a:prstGeom prst="rect">
            <a:avLst/>
          </a:prstGeom>
          <a:noFill/>
          <a:ln/>
        </p:spPr>
        <p:txBody>
          <a:bodyPr wrap="square" lIns="0" tIns="0" rIns="0" bIns="0" rtlCol="0" anchor="ctr"/>
          <a:lstStyle/>
          <a:p>
            <a:pPr algn="ctr" indent="0" marL="0">
              <a:buNone/>
            </a:pPr>
            <a:r>
              <a:rPr lang="en-US" sz="1150" i="1" dirty="0">
                <a:solidFill>
                  <a:srgbClr val="64748B"/>
                </a:solidFill>
                <a:latin typeface="Calibri" pitchFamily="34" charset="0"/>
                <a:ea typeface="Calibri" pitchFamily="34" charset="-122"/>
                <a:cs typeface="Calibri" pitchFamily="34" charset="-120"/>
              </a:rPr>
              <a:t>Ongoing evidence</a:t>
            </a:r>
            <a:endParaRPr lang="en-US" sz="1150" dirty="0"/>
          </a:p>
        </p:txBody>
      </p:sp>
      <p:sp>
        <p:nvSpPr>
          <p:cNvPr id="28" name="Text 26"/>
          <p:cNvSpPr/>
          <p:nvPr/>
        </p:nvSpPr>
        <p:spPr>
          <a:xfrm>
            <a:off x="1371600" y="5806440"/>
            <a:ext cx="9445752" cy="365760"/>
          </a:xfrm>
          <a:prstGeom prst="rect">
            <a:avLst/>
          </a:prstGeom>
          <a:noFill/>
          <a:ln/>
        </p:spPr>
        <p:txBody>
          <a:bodyPr wrap="square" lIns="0" tIns="0" rIns="0" bIns="0" rtlCol="0" anchor="ctr"/>
          <a:lstStyle/>
          <a:p>
            <a:pPr algn="ctr" indent="0" marL="0">
              <a:buNone/>
            </a:pPr>
            <a:r>
              <a:rPr lang="en-US" sz="1250" i="1" dirty="0">
                <a:solidFill>
                  <a:srgbClr val="64748B"/>
                </a:solidFill>
                <a:latin typeface="Calibri" pitchFamily="34" charset="0"/>
                <a:ea typeface="Calibri" pitchFamily="34" charset="-122"/>
                <a:cs typeface="Calibri" pitchFamily="34" charset="-120"/>
              </a:rPr>
              <a:t>Most engagements start with a single Technical Assessment call.</a:t>
            </a:r>
            <a:endParaRPr lang="en-US" sz="1250" dirty="0"/>
          </a:p>
        </p:txBody>
      </p:sp>
      <p:sp>
        <p:nvSpPr>
          <p:cNvPr id="29" name="Text 27"/>
          <p:cNvSpPr/>
          <p:nvPr/>
        </p:nvSpPr>
        <p:spPr>
          <a:xfrm>
            <a:off x="548640" y="6419088"/>
            <a:ext cx="9631375" cy="320040"/>
          </a:xfrm>
          <a:prstGeom prst="rect">
            <a:avLst/>
          </a:prstGeom>
          <a:noFill/>
          <a:ln/>
        </p:spPr>
        <p:txBody>
          <a:bodyPr wrap="square" lIns="0" tIns="0" rIns="0" bIns="0" rtlCol="0" anchor="ctr"/>
          <a:lstStyle/>
          <a:p>
            <a:pPr algn="l" indent="0" marL="0">
              <a:buNone/>
            </a:pPr>
            <a:r>
              <a:rPr lang="en-US" sz="900" dirty="0">
                <a:solidFill>
                  <a:srgbClr val="94A3B8"/>
                </a:solidFill>
                <a:latin typeface="Calibri" pitchFamily="34" charset="0"/>
                <a:ea typeface="Calibri" pitchFamily="34" charset="-122"/>
                <a:cs typeface="Calibri" pitchFamily="34" charset="-120"/>
              </a:rPr>
              <a:t>AOC Enterprise — Official Pitch Deck</a:t>
            </a:r>
            <a:endParaRPr lang="en-US" sz="900" dirty="0"/>
          </a:p>
        </p:txBody>
      </p:sp>
      <p:sp>
        <p:nvSpPr>
          <p:cNvPr id="30" name="Text 28"/>
          <p:cNvSpPr/>
          <p:nvPr/>
        </p:nvSpPr>
        <p:spPr>
          <a:xfrm>
            <a:off x="10362895" y="6419088"/>
            <a:ext cx="1280160" cy="320040"/>
          </a:xfrm>
          <a:prstGeom prst="rect">
            <a:avLst/>
          </a:prstGeom>
          <a:noFill/>
          <a:ln/>
        </p:spPr>
        <p:txBody>
          <a:bodyPr wrap="square" lIns="0" tIns="0" rIns="0" bIns="0" rtlCol="0" anchor="ctr"/>
          <a:lstStyle/>
          <a:p>
            <a:pPr algn="r" indent="0" marL="0">
              <a:buNone/>
            </a:pPr>
            <a:r>
              <a:rPr lang="en-US" sz="900" spc="100" kern="0" dirty="0">
                <a:solidFill>
                  <a:srgbClr val="94A3B8"/>
                </a:solidFill>
                <a:latin typeface="Calibri" pitchFamily="34" charset="0"/>
                <a:ea typeface="Calibri" pitchFamily="34" charset="-122"/>
                <a:cs typeface="Calibri" pitchFamily="34" charset="-120"/>
              </a:rPr>
              <a:t>SK005</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11094415" cy="822960"/>
          </a:xfrm>
          <a:prstGeom prst="rect">
            <a:avLst/>
          </a:prstGeom>
          <a:noFill/>
          <a:ln/>
        </p:spPr>
        <p:txBody>
          <a:bodyPr wrap="square" lIns="0" tIns="0" rIns="0" bIns="0" rtlCol="0" anchor="ctr"/>
          <a:lstStyle/>
          <a:p>
            <a:pPr algn="l" indent="0" marL="0">
              <a:buNone/>
            </a:pPr>
            <a:r>
              <a:rPr lang="en-US" sz="3200" b="1" dirty="0">
                <a:solidFill>
                  <a:srgbClr val="0F172A"/>
                </a:solidFill>
                <a:latin typeface="Calibri" pitchFamily="34" charset="0"/>
                <a:ea typeface="Calibri" pitchFamily="34" charset="-122"/>
                <a:cs typeface="Calibri" pitchFamily="34" charset="-120"/>
              </a:rPr>
              <a:t>What's real today</a:t>
            </a:r>
            <a:endParaRPr lang="en-US" sz="3200" dirty="0"/>
          </a:p>
        </p:txBody>
      </p:sp>
      <p:sp>
        <p:nvSpPr>
          <p:cNvPr id="3" name="Text 1"/>
          <p:cNvSpPr/>
          <p:nvPr/>
        </p:nvSpPr>
        <p:spPr>
          <a:xfrm>
            <a:off x="548640" y="1298448"/>
            <a:ext cx="11094415" cy="502920"/>
          </a:xfrm>
          <a:prstGeom prst="rect">
            <a:avLst/>
          </a:prstGeom>
          <a:noFill/>
          <a:ln/>
        </p:spPr>
        <p:txBody>
          <a:bodyPr wrap="square" lIns="0" tIns="0" rIns="0" bIns="0" rtlCol="0" anchor="ctr"/>
          <a:lstStyle/>
          <a:p>
            <a:pPr algn="l" indent="0" marL="0">
              <a:buNone/>
            </a:pPr>
            <a:r>
              <a:rPr lang="en-US" sz="1450" dirty="0">
                <a:solidFill>
                  <a:srgbClr val="64748B"/>
                </a:solidFill>
                <a:latin typeface="Calibri" pitchFamily="34" charset="0"/>
                <a:ea typeface="Calibri" pitchFamily="34" charset="-122"/>
                <a:cs typeface="Calibri" pitchFamily="34" charset="-120"/>
              </a:rPr>
              <a:t>No maturity claim here goes further than the architecture behind it.</a:t>
            </a:r>
            <a:endParaRPr lang="en-US" sz="1450" dirty="0"/>
          </a:p>
        </p:txBody>
      </p:sp>
      <p:sp>
        <p:nvSpPr>
          <p:cNvPr id="4" name="Shape 2"/>
          <p:cNvSpPr/>
          <p:nvPr/>
        </p:nvSpPr>
        <p:spPr>
          <a:xfrm>
            <a:off x="548640" y="2011680"/>
            <a:ext cx="3520440" cy="3977640"/>
          </a:xfrm>
          <a:prstGeom prst="roundRect">
            <a:avLst>
              <a:gd name="adj" fmla="val 2597"/>
            </a:avLst>
          </a:prstGeom>
          <a:solidFill>
            <a:srgbClr val="F8FAFC"/>
          </a:solidFill>
          <a:ln w="12700">
            <a:solidFill>
              <a:srgbClr val="E2E8F0"/>
            </a:solidFill>
            <a:prstDash val="solid"/>
          </a:ln>
        </p:spPr>
      </p:sp>
      <p:pic>
        <p:nvPicPr>
          <p:cNvPr id="5" name="Image 0" descr="preencoded.png">    </p:cNvPr>
          <p:cNvPicPr>
            <a:picLocks noChangeAspect="1"/>
          </p:cNvPicPr>
          <p:nvPr/>
        </p:nvPicPr>
        <p:blipFill>
          <a:blip r:embed="rId1"/>
          <a:stretch>
            <a:fillRect/>
          </a:stretch>
        </p:blipFill>
        <p:spPr>
          <a:xfrm>
            <a:off x="822960" y="2286000"/>
            <a:ext cx="310896" cy="310896"/>
          </a:xfrm>
          <a:prstGeom prst="rect">
            <a:avLst/>
          </a:prstGeom>
        </p:spPr>
      </p:pic>
      <p:sp>
        <p:nvSpPr>
          <p:cNvPr id="6" name="Text 3"/>
          <p:cNvSpPr/>
          <p:nvPr/>
        </p:nvSpPr>
        <p:spPr>
          <a:xfrm>
            <a:off x="1243584" y="2267712"/>
            <a:ext cx="2606040" cy="365760"/>
          </a:xfrm>
          <a:prstGeom prst="rect">
            <a:avLst/>
          </a:prstGeom>
          <a:noFill/>
          <a:ln/>
        </p:spPr>
        <p:txBody>
          <a:bodyPr wrap="square" lIns="0" tIns="0" rIns="0" bIns="0" rtlCol="0" anchor="ctr"/>
          <a:lstStyle/>
          <a:p>
            <a:pPr indent="0" marL="0">
              <a:buNone/>
            </a:pPr>
            <a:r>
              <a:rPr lang="en-US" sz="1450" b="1" dirty="0">
                <a:solidFill>
                  <a:srgbClr val="0F172A"/>
                </a:solidFill>
                <a:latin typeface="Calibri" pitchFamily="34" charset="0"/>
                <a:ea typeface="Calibri" pitchFamily="34" charset="-122"/>
                <a:cs typeface="Calibri" pitchFamily="34" charset="-120"/>
              </a:rPr>
              <a:t>Available today</a:t>
            </a:r>
            <a:endParaRPr lang="en-US" sz="1450" dirty="0"/>
          </a:p>
        </p:txBody>
      </p:sp>
      <p:sp>
        <p:nvSpPr>
          <p:cNvPr id="7" name="Text 4"/>
          <p:cNvSpPr/>
          <p:nvPr/>
        </p:nvSpPr>
        <p:spPr>
          <a:xfrm>
            <a:off x="822960" y="2880360"/>
            <a:ext cx="2971800" cy="2880360"/>
          </a:xfrm>
          <a:prstGeom prst="rect">
            <a:avLst/>
          </a:prstGeom>
          <a:noFill/>
          <a:ln/>
        </p:spPr>
        <p:txBody>
          <a:bodyPr wrap="square" lIns="0" tIns="0" rIns="0" bIns="0" rtlCol="0" anchor="ctr"/>
          <a:lstStyle/>
          <a:p>
            <a:pPr marL="152400" indent="-152400">
              <a:lnSpc>
                <a:spcPct val="115000"/>
              </a:lnSpc>
              <a:spcAft>
                <a:spcPts val="1200"/>
              </a:spcAft>
              <a:buSzPct val="100000"/>
              <a:buChar char="•"/>
            </a:pPr>
            <a:r>
              <a:rPr lang="en-US" sz="1150" dirty="0">
                <a:solidFill>
                  <a:srgbClr val="0F172A"/>
                </a:solidFill>
                <a:latin typeface="Calibri" pitchFamily="34" charset="0"/>
                <a:ea typeface="Calibri" pitchFamily="34" charset="-122"/>
                <a:cs typeface="Calibri" pitchFamily="34" charset="-120"/>
              </a:rPr>
              <a:t>Enterprise core (v1.0.0)</a:t>
            </a:r>
            <a:endParaRPr lang="en-US" sz="1150" dirty="0"/>
          </a:p>
          <a:p>
            <a:pPr marL="152400" indent="-152400">
              <a:lnSpc>
                <a:spcPct val="115000"/>
              </a:lnSpc>
              <a:spcAft>
                <a:spcPts val="1200"/>
              </a:spcAft>
              <a:buSzPct val="100000"/>
              <a:buChar char="•"/>
            </a:pPr>
            <a:r>
              <a:rPr lang="en-US" sz="1150" dirty="0">
                <a:solidFill>
                  <a:srgbClr val="0F172A"/>
                </a:solidFill>
                <a:latin typeface="Calibri" pitchFamily="34" charset="0"/>
                <a:ea typeface="Calibri" pitchFamily="34" charset="-122"/>
                <a:cs typeface="Calibri" pitchFamily="34" charset="-120"/>
              </a:rPr>
              <a:t>27-endpoint API surface</a:t>
            </a:r>
            <a:endParaRPr lang="en-US" sz="1150" dirty="0"/>
          </a:p>
          <a:p>
            <a:pPr marL="152400" indent="-152400">
              <a:lnSpc>
                <a:spcPct val="115000"/>
              </a:lnSpc>
              <a:spcAft>
                <a:spcPts val="1200"/>
              </a:spcAft>
              <a:buSzPct val="100000"/>
              <a:buChar char="•"/>
            </a:pPr>
            <a:r>
              <a:rPr lang="en-US" sz="1150" dirty="0">
                <a:solidFill>
                  <a:srgbClr val="0F172A"/>
                </a:solidFill>
                <a:latin typeface="Calibri" pitchFamily="34" charset="0"/>
                <a:ea typeface="Calibri" pitchFamily="34" charset="-122"/>
                <a:cs typeface="Calibri" pitchFamily="34" charset="-120"/>
              </a:rPr>
              <a:t>Agent Governance</a:t>
            </a:r>
            <a:endParaRPr lang="en-US" sz="1150" dirty="0"/>
          </a:p>
          <a:p>
            <a:pPr marL="152400" indent="-152400">
              <a:lnSpc>
                <a:spcPct val="115000"/>
              </a:lnSpc>
              <a:spcAft>
                <a:spcPts val="1200"/>
              </a:spcAft>
              <a:buSzPct val="100000"/>
              <a:buChar char="•"/>
            </a:pPr>
            <a:r>
              <a:rPr lang="en-US" sz="1150" dirty="0">
                <a:solidFill>
                  <a:srgbClr val="0F172A"/>
                </a:solidFill>
                <a:latin typeface="Calibri" pitchFamily="34" charset="0"/>
                <a:ea typeface="Calibri" pitchFamily="34" charset="-122"/>
                <a:cs typeface="Calibri" pitchFamily="34" charset="-120"/>
              </a:rPr>
              <a:t>Evidence &amp; Audit API</a:t>
            </a:r>
            <a:endParaRPr lang="en-US" sz="1150" dirty="0"/>
          </a:p>
          <a:p>
            <a:pPr marL="152400" indent="-152400">
              <a:lnSpc>
                <a:spcPct val="115000"/>
              </a:lnSpc>
              <a:spcAft>
                <a:spcPts val="1200"/>
              </a:spcAft>
              <a:buSzPct val="100000"/>
              <a:buChar char="•"/>
            </a:pPr>
            <a:r>
              <a:rPr lang="en-US" sz="1150" dirty="0">
                <a:solidFill>
                  <a:srgbClr val="0F172A"/>
                </a:solidFill>
                <a:latin typeface="Calibri" pitchFamily="34" charset="0"/>
                <a:ea typeface="Calibri" pitchFamily="34" charset="-122"/>
                <a:cs typeface="Calibri" pitchFamily="34" charset="-120"/>
              </a:rPr>
              <a:t>Assurance Runtime (SAF v1.0.0)</a:t>
            </a:r>
            <a:endParaRPr lang="en-US" sz="1150" dirty="0"/>
          </a:p>
        </p:txBody>
      </p:sp>
      <p:sp>
        <p:nvSpPr>
          <p:cNvPr id="8" name="Shape 5"/>
          <p:cNvSpPr/>
          <p:nvPr/>
        </p:nvSpPr>
        <p:spPr>
          <a:xfrm>
            <a:off x="4335628" y="2011680"/>
            <a:ext cx="3520440" cy="3977640"/>
          </a:xfrm>
          <a:prstGeom prst="roundRect">
            <a:avLst>
              <a:gd name="adj" fmla="val 2597"/>
            </a:avLst>
          </a:prstGeom>
          <a:solidFill>
            <a:srgbClr val="F8FAFC"/>
          </a:solidFill>
          <a:ln w="12700">
            <a:solidFill>
              <a:srgbClr val="E2E8F0"/>
            </a:solidFill>
            <a:prstDash val="solid"/>
          </a:ln>
        </p:spPr>
      </p:sp>
      <p:pic>
        <p:nvPicPr>
          <p:cNvPr id="9" name="Image 1" descr="preencoded.png">    </p:cNvPr>
          <p:cNvPicPr>
            <a:picLocks noChangeAspect="1"/>
          </p:cNvPicPr>
          <p:nvPr/>
        </p:nvPicPr>
        <p:blipFill>
          <a:blip r:embed="rId2"/>
          <a:stretch>
            <a:fillRect/>
          </a:stretch>
        </p:blipFill>
        <p:spPr>
          <a:xfrm>
            <a:off x="4609948" y="2286000"/>
            <a:ext cx="310896" cy="310896"/>
          </a:xfrm>
          <a:prstGeom prst="rect">
            <a:avLst/>
          </a:prstGeom>
        </p:spPr>
      </p:pic>
      <p:sp>
        <p:nvSpPr>
          <p:cNvPr id="10" name="Text 6"/>
          <p:cNvSpPr/>
          <p:nvPr/>
        </p:nvSpPr>
        <p:spPr>
          <a:xfrm>
            <a:off x="5030572" y="2267712"/>
            <a:ext cx="2606040" cy="365760"/>
          </a:xfrm>
          <a:prstGeom prst="rect">
            <a:avLst/>
          </a:prstGeom>
          <a:noFill/>
          <a:ln/>
        </p:spPr>
        <p:txBody>
          <a:bodyPr wrap="square" lIns="0" tIns="0" rIns="0" bIns="0" rtlCol="0" anchor="ctr"/>
          <a:lstStyle/>
          <a:p>
            <a:pPr indent="0" marL="0">
              <a:buNone/>
            </a:pPr>
            <a:r>
              <a:rPr lang="en-US" sz="1450" b="1" dirty="0">
                <a:solidFill>
                  <a:srgbClr val="0F172A"/>
                </a:solidFill>
                <a:latin typeface="Calibri" pitchFamily="34" charset="0"/>
                <a:ea typeface="Calibri" pitchFamily="34" charset="-122"/>
                <a:cs typeface="Calibri" pitchFamily="34" charset="-120"/>
              </a:rPr>
              <a:t>Design Partner stage</a:t>
            </a:r>
            <a:endParaRPr lang="en-US" sz="1450" dirty="0"/>
          </a:p>
        </p:txBody>
      </p:sp>
      <p:sp>
        <p:nvSpPr>
          <p:cNvPr id="11" name="Text 7"/>
          <p:cNvSpPr/>
          <p:nvPr/>
        </p:nvSpPr>
        <p:spPr>
          <a:xfrm>
            <a:off x="4609948" y="2880360"/>
            <a:ext cx="2971800" cy="2880360"/>
          </a:xfrm>
          <a:prstGeom prst="rect">
            <a:avLst/>
          </a:prstGeom>
          <a:noFill/>
          <a:ln/>
        </p:spPr>
        <p:txBody>
          <a:bodyPr wrap="square" lIns="0" tIns="0" rIns="0" bIns="0" rtlCol="0" anchor="ctr"/>
          <a:lstStyle/>
          <a:p>
            <a:pPr marL="152400" indent="-152400">
              <a:lnSpc>
                <a:spcPct val="115000"/>
              </a:lnSpc>
              <a:spcAft>
                <a:spcPts val="1200"/>
              </a:spcAft>
              <a:buSzPct val="100000"/>
              <a:buChar char="•"/>
            </a:pPr>
            <a:r>
              <a:rPr lang="en-US" sz="1150" dirty="0">
                <a:solidFill>
                  <a:srgbClr val="0F172A"/>
                </a:solidFill>
                <a:latin typeface="Calibri" pitchFamily="34" charset="0"/>
                <a:ea typeface="Calibri" pitchFamily="34" charset="-122"/>
                <a:cs typeface="Calibri" pitchFamily="34" charset="-120"/>
              </a:rPr>
              <a:t>Governed Access lifecycle — architecture frozen</a:t>
            </a:r>
            <a:endParaRPr lang="en-US" sz="1150" dirty="0"/>
          </a:p>
          <a:p>
            <a:pPr marL="152400" indent="-152400">
              <a:lnSpc>
                <a:spcPct val="115000"/>
              </a:lnSpc>
              <a:spcAft>
                <a:spcPts val="1200"/>
              </a:spcAft>
              <a:buSzPct val="100000"/>
              <a:buChar char="•"/>
            </a:pPr>
            <a:r>
              <a:rPr lang="en-US" sz="1150" dirty="0">
                <a:solidFill>
                  <a:srgbClr val="0F172A"/>
                </a:solidFill>
                <a:latin typeface="Calibri" pitchFamily="34" charset="0"/>
                <a:ea typeface="Calibri" pitchFamily="34" charset="-122"/>
                <a:cs typeface="Calibri" pitchFamily="34" charset="-120"/>
              </a:rPr>
              <a:t>Pinata Provider Adapter — conformance-tested</a:t>
            </a:r>
            <a:endParaRPr lang="en-US" sz="1150" dirty="0"/>
          </a:p>
          <a:p>
            <a:pPr marL="152400" indent="-152400">
              <a:lnSpc>
                <a:spcPct val="115000"/>
              </a:lnSpc>
              <a:spcAft>
                <a:spcPts val="1200"/>
              </a:spcAft>
              <a:buSzPct val="100000"/>
              <a:buChar char="•"/>
            </a:pPr>
            <a:r>
              <a:rPr lang="en-US" sz="1150" dirty="0">
                <a:solidFill>
                  <a:srgbClr val="0F172A"/>
                </a:solidFill>
                <a:latin typeface="Calibri" pitchFamily="34" charset="0"/>
                <a:ea typeface="Calibri" pitchFamily="34" charset="-122"/>
                <a:cs typeface="Calibri" pitchFamily="34" charset="-120"/>
              </a:rPr>
              <a:t>Not yet a persisted, callable API</a:t>
            </a:r>
            <a:endParaRPr lang="en-US" sz="1150" dirty="0"/>
          </a:p>
        </p:txBody>
      </p:sp>
      <p:sp>
        <p:nvSpPr>
          <p:cNvPr id="12" name="Shape 8"/>
          <p:cNvSpPr/>
          <p:nvPr/>
        </p:nvSpPr>
        <p:spPr>
          <a:xfrm>
            <a:off x="8122615" y="2011680"/>
            <a:ext cx="3520440" cy="3977640"/>
          </a:xfrm>
          <a:prstGeom prst="roundRect">
            <a:avLst>
              <a:gd name="adj" fmla="val 2597"/>
            </a:avLst>
          </a:prstGeom>
          <a:solidFill>
            <a:srgbClr val="F8FAFC"/>
          </a:solidFill>
          <a:ln w="12700">
            <a:solidFill>
              <a:srgbClr val="E2E8F0"/>
            </a:solidFill>
            <a:prstDash val="solid"/>
          </a:ln>
        </p:spPr>
      </p:sp>
      <p:pic>
        <p:nvPicPr>
          <p:cNvPr id="13" name="Image 2" descr="preencoded.png">    </p:cNvPr>
          <p:cNvPicPr>
            <a:picLocks noChangeAspect="1"/>
          </p:cNvPicPr>
          <p:nvPr/>
        </p:nvPicPr>
        <p:blipFill>
          <a:blip r:embed="rId3"/>
          <a:stretch>
            <a:fillRect/>
          </a:stretch>
        </p:blipFill>
        <p:spPr>
          <a:xfrm>
            <a:off x="8396935" y="2286000"/>
            <a:ext cx="310896" cy="310896"/>
          </a:xfrm>
          <a:prstGeom prst="rect">
            <a:avLst/>
          </a:prstGeom>
        </p:spPr>
      </p:pic>
      <p:sp>
        <p:nvSpPr>
          <p:cNvPr id="14" name="Text 9"/>
          <p:cNvSpPr/>
          <p:nvPr/>
        </p:nvSpPr>
        <p:spPr>
          <a:xfrm>
            <a:off x="8817559" y="2267712"/>
            <a:ext cx="2606040" cy="365760"/>
          </a:xfrm>
          <a:prstGeom prst="rect">
            <a:avLst/>
          </a:prstGeom>
          <a:noFill/>
          <a:ln/>
        </p:spPr>
        <p:txBody>
          <a:bodyPr wrap="square" lIns="0" tIns="0" rIns="0" bIns="0" rtlCol="0" anchor="ctr"/>
          <a:lstStyle/>
          <a:p>
            <a:pPr indent="0" marL="0">
              <a:buNone/>
            </a:pPr>
            <a:r>
              <a:rPr lang="en-US" sz="1450" b="1" dirty="0">
                <a:solidFill>
                  <a:srgbClr val="0F172A"/>
                </a:solidFill>
                <a:latin typeface="Calibri" pitchFamily="34" charset="0"/>
                <a:ea typeface="Calibri" pitchFamily="34" charset="-122"/>
                <a:cs typeface="Calibri" pitchFamily="34" charset="-120"/>
              </a:rPr>
              <a:t>Roadmap</a:t>
            </a:r>
            <a:endParaRPr lang="en-US" sz="1450" dirty="0"/>
          </a:p>
        </p:txBody>
      </p:sp>
      <p:sp>
        <p:nvSpPr>
          <p:cNvPr id="15" name="Text 10"/>
          <p:cNvSpPr/>
          <p:nvPr/>
        </p:nvSpPr>
        <p:spPr>
          <a:xfrm>
            <a:off x="8396935" y="2880360"/>
            <a:ext cx="2971800" cy="2880360"/>
          </a:xfrm>
          <a:prstGeom prst="rect">
            <a:avLst/>
          </a:prstGeom>
          <a:noFill/>
          <a:ln/>
        </p:spPr>
        <p:txBody>
          <a:bodyPr wrap="square" lIns="0" tIns="0" rIns="0" bIns="0" rtlCol="0" anchor="ctr"/>
          <a:lstStyle/>
          <a:p>
            <a:pPr marL="152400" indent="-152400">
              <a:lnSpc>
                <a:spcPct val="115000"/>
              </a:lnSpc>
              <a:spcAft>
                <a:spcPts val="1200"/>
              </a:spcAft>
              <a:buSzPct val="100000"/>
              <a:buChar char="•"/>
            </a:pPr>
            <a:r>
              <a:rPr lang="en-US" sz="1150" dirty="0">
                <a:solidFill>
                  <a:srgbClr val="0F172A"/>
                </a:solidFill>
                <a:latin typeface="Calibri" pitchFamily="34" charset="0"/>
                <a:ea typeface="Calibri" pitchFamily="34" charset="-122"/>
                <a:cs typeface="Calibri" pitchFamily="34" charset="-120"/>
              </a:rPr>
              <a:t>Additional Provider Adapters (S3, Azure, Google Drive, SharePoint)</a:t>
            </a:r>
            <a:endParaRPr lang="en-US" sz="1150" dirty="0"/>
          </a:p>
          <a:p>
            <a:pPr marL="152400" indent="-152400">
              <a:lnSpc>
                <a:spcPct val="115000"/>
              </a:lnSpc>
              <a:spcAft>
                <a:spcPts val="1200"/>
              </a:spcAft>
              <a:buSzPct val="100000"/>
              <a:buChar char="•"/>
            </a:pPr>
            <a:r>
              <a:rPr lang="en-US" sz="1150" dirty="0">
                <a:solidFill>
                  <a:srgbClr val="0F172A"/>
                </a:solidFill>
                <a:latin typeface="Calibri" pitchFamily="34" charset="0"/>
                <a:ea typeface="Calibri" pitchFamily="34" charset="-122"/>
                <a:cs typeface="Calibri" pitchFamily="34" charset="-120"/>
              </a:rPr>
              <a:t>Governed Access production wiring</a:t>
            </a:r>
            <a:endParaRPr lang="en-US" sz="1150" dirty="0"/>
          </a:p>
          <a:p>
            <a:pPr marL="152400" indent="-152400">
              <a:lnSpc>
                <a:spcPct val="115000"/>
              </a:lnSpc>
              <a:spcAft>
                <a:spcPts val="1200"/>
              </a:spcAft>
              <a:buSzPct val="100000"/>
              <a:buChar char="•"/>
            </a:pPr>
            <a:r>
              <a:rPr lang="en-US" sz="1150" dirty="0">
                <a:solidFill>
                  <a:srgbClr val="0F172A"/>
                </a:solidFill>
                <a:latin typeface="Calibri" pitchFamily="34" charset="0"/>
                <a:ea typeface="Calibri" pitchFamily="34" charset="-122"/>
                <a:cs typeface="Calibri" pitchFamily="34" charset="-120"/>
              </a:rPr>
              <a:t>Continuous Assurance signal automation</a:t>
            </a:r>
            <a:endParaRPr lang="en-US" sz="1150" dirty="0"/>
          </a:p>
        </p:txBody>
      </p:sp>
      <p:sp>
        <p:nvSpPr>
          <p:cNvPr id="16" name="Text 11"/>
          <p:cNvSpPr/>
          <p:nvPr/>
        </p:nvSpPr>
        <p:spPr>
          <a:xfrm>
            <a:off x="548640" y="6419088"/>
            <a:ext cx="9631375" cy="320040"/>
          </a:xfrm>
          <a:prstGeom prst="rect">
            <a:avLst/>
          </a:prstGeom>
          <a:noFill/>
          <a:ln/>
        </p:spPr>
        <p:txBody>
          <a:bodyPr wrap="square" lIns="0" tIns="0" rIns="0" bIns="0" rtlCol="0" anchor="ctr"/>
          <a:lstStyle/>
          <a:p>
            <a:pPr algn="l" indent="0" marL="0">
              <a:buNone/>
            </a:pPr>
            <a:r>
              <a:rPr lang="en-US" sz="900" dirty="0">
                <a:solidFill>
                  <a:srgbClr val="94A3B8"/>
                </a:solidFill>
                <a:latin typeface="Calibri" pitchFamily="34" charset="0"/>
                <a:ea typeface="Calibri" pitchFamily="34" charset="-122"/>
                <a:cs typeface="Calibri" pitchFamily="34" charset="-120"/>
              </a:rPr>
              <a:t>AOC Enterprise — Official Pitch Deck</a:t>
            </a:r>
            <a:endParaRPr lang="en-US" sz="900" dirty="0"/>
          </a:p>
        </p:txBody>
      </p:sp>
      <p:sp>
        <p:nvSpPr>
          <p:cNvPr id="17" name="Text 12"/>
          <p:cNvSpPr/>
          <p:nvPr/>
        </p:nvSpPr>
        <p:spPr>
          <a:xfrm>
            <a:off x="10362895" y="6419088"/>
            <a:ext cx="1280160" cy="320040"/>
          </a:xfrm>
          <a:prstGeom prst="rect">
            <a:avLst/>
          </a:prstGeom>
          <a:noFill/>
          <a:ln/>
        </p:spPr>
        <p:txBody>
          <a:bodyPr wrap="square" lIns="0" tIns="0" rIns="0" bIns="0" rtlCol="0" anchor="ctr"/>
          <a:lstStyle/>
          <a:p>
            <a:pPr algn="r" indent="0" marL="0">
              <a:buNone/>
            </a:pPr>
            <a:r>
              <a:rPr lang="en-US" sz="900" spc="100" kern="0" dirty="0">
                <a:solidFill>
                  <a:srgbClr val="94A3B8"/>
                </a:solidFill>
                <a:latin typeface="Calibri" pitchFamily="34" charset="0"/>
                <a:ea typeface="Calibri" pitchFamily="34" charset="-122"/>
                <a:cs typeface="Calibri" pitchFamily="34" charset="-120"/>
              </a:rPr>
              <a:t>SK005</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914400" y="1554480"/>
            <a:ext cx="10362895" cy="914400"/>
          </a:xfrm>
          <a:prstGeom prst="rect">
            <a:avLst/>
          </a:prstGeom>
          <a:noFill/>
          <a:ln/>
        </p:spPr>
        <p:txBody>
          <a:bodyPr wrap="square" lIns="0" tIns="0" rIns="0" bIns="0" rtlCol="0" anchor="ctr"/>
          <a:lstStyle/>
          <a:p>
            <a:pPr algn="ctr" indent="0" marL="0">
              <a:buNone/>
            </a:pPr>
            <a:r>
              <a:rPr lang="en-US" sz="3800" b="1" dirty="0">
                <a:solidFill>
                  <a:srgbClr val="FFFFFF"/>
                </a:solidFill>
                <a:latin typeface="Calibri" pitchFamily="34" charset="0"/>
                <a:ea typeface="Calibri" pitchFamily="34" charset="-122"/>
                <a:cs typeface="Calibri" pitchFamily="34" charset="-120"/>
              </a:rPr>
              <a:t>Request a Technical Assessment</a:t>
            </a:r>
            <a:endParaRPr lang="en-US" sz="3800" dirty="0"/>
          </a:p>
        </p:txBody>
      </p:sp>
      <p:sp>
        <p:nvSpPr>
          <p:cNvPr id="3" name="Text 1"/>
          <p:cNvSpPr/>
          <p:nvPr/>
        </p:nvSpPr>
        <p:spPr>
          <a:xfrm>
            <a:off x="1920240" y="2395728"/>
            <a:ext cx="8348472" cy="502920"/>
          </a:xfrm>
          <a:prstGeom prst="rect">
            <a:avLst/>
          </a:prstGeom>
          <a:noFill/>
          <a:ln/>
        </p:spPr>
        <p:txBody>
          <a:bodyPr wrap="square" lIns="0" tIns="0" rIns="0" bIns="0" rtlCol="0" anchor="ctr"/>
          <a:lstStyle/>
          <a:p>
            <a:pPr algn="ctr" indent="0" marL="0">
              <a:buNone/>
            </a:pPr>
            <a:r>
              <a:rPr lang="en-US" sz="1550" dirty="0">
                <a:solidFill>
                  <a:srgbClr val="94A3B8"/>
                </a:solidFill>
                <a:latin typeface="Calibri" pitchFamily="34" charset="0"/>
                <a:ea typeface="Calibri" pitchFamily="34" charset="-122"/>
                <a:cs typeface="Calibri" pitchFamily="34" charset="-120"/>
              </a:rPr>
              <a:t>A scoped review of your environment. No commitment beyond the assessment itself.</a:t>
            </a:r>
            <a:endParaRPr lang="en-US" sz="1550" dirty="0"/>
          </a:p>
        </p:txBody>
      </p:sp>
      <p:sp>
        <p:nvSpPr>
          <p:cNvPr id="4" name="Shape 2"/>
          <p:cNvSpPr/>
          <p:nvPr/>
        </p:nvSpPr>
        <p:spPr>
          <a:xfrm>
            <a:off x="4221328" y="3337560"/>
            <a:ext cx="3749040" cy="658368"/>
          </a:xfrm>
          <a:prstGeom prst="roundRect">
            <a:avLst>
              <a:gd name="adj" fmla="val 50000"/>
            </a:avLst>
          </a:prstGeom>
          <a:solidFill>
            <a:srgbClr val="4F46E5"/>
          </a:solidFill>
          <a:ln/>
          <a:effectLst>
            <a:outerShdw sx="100000" sy="100000" kx="0" ky="0" algn="bl" rotWithShape="0" blurRad="127000" dist="25400" dir="5400000">
              <a:srgbClr val="0F172A">
                <a:alpha val="10000"/>
              </a:srgbClr>
            </a:outerShdw>
          </a:effectLst>
        </p:spPr>
      </p:sp>
      <p:sp>
        <p:nvSpPr>
          <p:cNvPr id="5" name="Text 3"/>
          <p:cNvSpPr/>
          <p:nvPr/>
        </p:nvSpPr>
        <p:spPr>
          <a:xfrm>
            <a:off x="4221328" y="3337560"/>
            <a:ext cx="3291840" cy="65836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Request a Technical Assessment</a:t>
            </a:r>
            <a:endParaRPr lang="en-US" sz="1400" dirty="0"/>
          </a:p>
        </p:txBody>
      </p:sp>
      <p:pic>
        <p:nvPicPr>
          <p:cNvPr id="6" name="Image 0" descr="preencoded.png">    </p:cNvPr>
          <p:cNvPicPr>
            <a:picLocks noChangeAspect="1"/>
          </p:cNvPicPr>
          <p:nvPr/>
        </p:nvPicPr>
        <p:blipFill>
          <a:blip r:embed="rId1"/>
          <a:stretch>
            <a:fillRect/>
          </a:stretch>
        </p:blipFill>
        <p:spPr>
          <a:xfrm>
            <a:off x="7513168" y="3566160"/>
            <a:ext cx="201168" cy="201168"/>
          </a:xfrm>
          <a:prstGeom prst="rect">
            <a:avLst/>
          </a:prstGeom>
        </p:spPr>
      </p:pic>
      <p:sp>
        <p:nvSpPr>
          <p:cNvPr id="7" name="Text 4"/>
          <p:cNvSpPr/>
          <p:nvPr/>
        </p:nvSpPr>
        <p:spPr>
          <a:xfrm>
            <a:off x="914400" y="4343400"/>
            <a:ext cx="10362895" cy="365760"/>
          </a:xfrm>
          <a:prstGeom prst="rect">
            <a:avLst/>
          </a:prstGeom>
          <a:noFill/>
          <a:ln/>
        </p:spPr>
        <p:txBody>
          <a:bodyPr wrap="square" lIns="0" tIns="0" rIns="0" bIns="0" rtlCol="0" anchor="ctr"/>
          <a:lstStyle/>
          <a:p>
            <a:pPr algn="ctr" indent="0" marL="0">
              <a:buNone/>
            </a:pPr>
            <a:r>
              <a:rPr lang="en-US" sz="1350" dirty="0">
                <a:solidFill>
                  <a:srgbClr val="C7D2FE"/>
                </a:solidFill>
                <a:latin typeface="Calibri" pitchFamily="34" charset="0"/>
                <a:ea typeface="Calibri" pitchFamily="34" charset="-122"/>
                <a:cs typeface="Calibri" pitchFamily="34" charset="-120"/>
              </a:rPr>
              <a:t>Request a Live Demo</a:t>
            </a:r>
            <a:pPr algn="ctr" indent="0" marL="0">
              <a:buNone/>
            </a:pPr>
            <a:r>
              <a:rPr lang="en-US" sz="1350" dirty="0">
                <a:solidFill>
                  <a:srgbClr val="5B6B8C"/>
                </a:solidFill>
                <a:latin typeface="Calibri" pitchFamily="34" charset="0"/>
                <a:ea typeface="Calibri" pitchFamily="34" charset="-122"/>
                <a:cs typeface="Calibri" pitchFamily="34" charset="-120"/>
              </a:rPr>
              <a:t>     ·     </a:t>
            </a:r>
            <a:pPr algn="ctr" indent="0" marL="0">
              <a:buNone/>
            </a:pPr>
            <a:r>
              <a:rPr lang="en-US" sz="1350" dirty="0">
                <a:solidFill>
                  <a:srgbClr val="C7D2FE"/>
                </a:solidFill>
                <a:latin typeface="Calibri" pitchFamily="34" charset="0"/>
                <a:ea typeface="Calibri" pitchFamily="34" charset="-122"/>
                <a:cs typeface="Calibri" pitchFamily="34" charset="-120"/>
              </a:rPr>
              <a:t>Request an Architecture Review</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Onchainfest LLC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AOC Enterprise — Official Pitch Deck (SK005)</dc:title>
  <dc:subject>PptxGenJS Presentation</dc:subject>
  <dc:creator>AOC Enterprise</dc:creator>
  <cp:lastModifiedBy>AOC Enterprise</cp:lastModifiedBy>
  <cp:revision>1</cp:revision>
  <dcterms:created xsi:type="dcterms:W3CDTF">2026-08-04T21:35:36Z</dcterms:created>
  <dcterms:modified xsi:type="dcterms:W3CDTF">2026-08-04T21:35:36Z</dcterms:modified>
</cp:coreProperties>
</file>